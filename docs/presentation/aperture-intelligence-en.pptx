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review and project demonstration. Snapshot date: 2026-09-25. The application connects research production to stable bilingual delivery, search and agent access.</a:t>
            </a:r>
          </a:p>
          <a:p>
            <a:r>
              <a:t>Screenshot: English research homepage</a:t>
            </a:r>
          </a:p>
          <a:p>
            <a:r>
              <a:t>Source: https://aperture.zhangwangshu.com/</a:t>
            </a:r>
          </a:p>
          <a:p>
            <a:r>
              <a:t>Captured: 2026-09-25T15:52:45.564271+00:00</a:t>
            </a:r>
          </a:p>
          <a:p>
            <a:r>
              <a:t>SHA-256: 9c82935557e6fe5977e2b59f7b633f66ce8d0698df785d212acc014dccbd8096</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statements describe the implemented workflow. Citation, indexing and revenue are outcomes to measure, not guarantees. The x402 deployment is a Base Sepolia testnet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production category page. Full category lists come from SSR and are not capped at three cards or the home API default.</a:t>
            </a:r>
          </a:p>
          <a:p>
            <a:r>
              <a:t>Screenshot: Complete Agent technology category</a:t>
            </a:r>
          </a:p>
          <a:p>
            <a:r>
              <a:t>Source: https://aperture.zhangwangshu.com/category/agent</a:t>
            </a:r>
          </a:p>
          <a:p>
            <a:r>
              <a:t>Captured: 2026-09-25T15:52:46.877701+00:00</a:t>
            </a:r>
          </a:p>
          <a:p>
            <a:r>
              <a:t>SHA-256: 79c9a3a456597de54df40d13a65d209be5a951831785ba0f2f1eb043b05869a0</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approved English editions existed in the September 25 audit. Chinese drafts and original evidence are preserved. English and Chinese refer to the same article ID. See docs/bilingual-publication.md.</a:t>
            </a:r>
          </a:p>
          <a:p>
            <a:r>
              <a:t>Screenshot: Published English engineering article</a:t>
            </a:r>
          </a:p>
          <a:p>
            <a:r>
              <a:t>Source: https://aperture.zhangwangshu.com/article/aurora-data-api-1mb-502-chunked-read</a:t>
            </a:r>
          </a:p>
          <a:p>
            <a:r>
              <a:t>Captured: 2026-09-25T15:52:48.294136+00:00</a:t>
            </a:r>
          </a:p>
          <a:p>
            <a:r>
              <a:t>SHA-256: b08b4f5c737fbd1d49442ec86e42bb4b5f4f3d271e99a1670d9d01bbce40ab11</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English search overlay opened through normal UI controls. The query was Agent. Navigation preserves metadata, language and browser history; temporary failures are distinguished from real 404s.</a:t>
            </a:r>
          </a:p>
          <a:p>
            <a:r>
              <a:t>Screenshot: English search results</a:t>
            </a:r>
          </a:p>
          <a:p>
            <a:r>
              <a:t>Source: https://aperture.zhangwangshu.com/article/aurora-data-api-1mb-502-chunked-read</a:t>
            </a:r>
          </a:p>
          <a:p>
            <a:r>
              <a:t>Captured: 2026-09-25T15:52:50.124050+00:00</a:t>
            </a:r>
          </a:p>
          <a:p>
            <a:r>
              <a:t>SHA-256: 7f5b26abe1945566035dcd6b64f522a8366c1ed682807946fcb62236beb24c46</a:t>
            </a:r>
          </a:p>
          <a:p>
            <a:r>
              <a:t>Region: .search-panel.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component/data flow, not a VPC/subnet topology. The indexing worker is invoked by the publisher/API after a successful commit; Aurora does not directly invoke Lambda. Read docs/architecture.md for security and persistence boundaries.</a:t>
            </a:r>
          </a:p>
          <a:p>
            <a:r>
              <a:t>Editable source: docs/architecture/aperture-aws.drawio, page Aperture on AWS.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aws_scheduler/lambda_function.py, aws_runtime/app.py, aws_runtime/crawler_tools.py, agent_runtime/codex_crawler.ts. The runtime uses Bedrock. Scheduler delivery retries and Lambda async retries are separate policies.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and full published-catalogue semantic comparison precede translation. Independent English review requires score &gt;=90 and no issues. A final transaction rechecks source/article hashes and the published catalogue. Semantic review is not a mathematical uniqueness guarantee. Source: aws_runtime/publication.py and docs/bilingual-publication.md.</a:t>
            </a:r>
          </a:p>
          <a:p>
            <a:r>
              <a:t>Editable source: docs/architecture/aperture-aws.drawio, page Review before every new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September 25 verification snapshot: 41 articles, 104 bilingual public URLs, 19 legacy redirect mappings. 312 crawler page checks and 26 site checks passed. Bing accepted 104 URLs at 15:29:24 UTC with HTTP 200. The Bing Webmaster indexed-page report was not accessed; Google does not use IndexNow.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production overview, captured in an 1600x850 viewport. Historical original-language logs below the viewport were not edited. Displayed USDC values are testnet activity and must not be described as production revenue.</a:t>
            </a:r>
          </a:p>
          <a:p>
            <a:r>
              <a:t>Screenshot: Live English overview and x402 testnet metrics</a:t>
            </a:r>
          </a:p>
          <a:p>
            <a:r>
              <a:t>Source: https://deu7vkdd3jf5.cloudfront.net/</a:t>
            </a:r>
          </a:p>
          <a:p>
            <a:r>
              <a:t>Captured: 2026-09-25T15:53:00.786607+00:00</a:t>
            </a:r>
          </a:p>
          <a:p>
            <a:r>
              <a:t>SHA-256: 093560b814192255af7864fa53049d3d42bb48485ad7d8804a412ed401827f08</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content view with the normal Published filter; original unpublished drafts are not translated through DOM substitutions. The second screenshot is the actual reviewed English article detail modal. Content mutations were not performed.</a:t>
            </a:r>
          </a:p>
          <a:p>
            <a:r>
              <a:t>Screenshot: Published content filter in the English console</a:t>
            </a:r>
          </a:p>
          <a:p>
            <a:r>
              <a:t>Source: https://deu7vkdd3jf5.cloudfront.net/</a:t>
            </a:r>
          </a:p>
          <a:p>
            <a:r>
              <a:t>Captured: 2026-09-25T15:53:01.288526+00:00</a:t>
            </a:r>
          </a:p>
          <a:p>
            <a:r>
              <a:t>SHA-256: acdd79ad787df8fca98fdb332325313b29fd9e66a1bc20e6e41c07c64fde7b1b</a:t>
            </a:r>
          </a:p>
          <a:p>
            <a:r>
              <a:t>Region: viewport. Actual English interface, no substituted text or synthetic data.</a:t>
            </a:r>
          </a:p>
          <a:p>
            <a:r>
              <a:t>Screenshot: Reviewed English article detail</a:t>
            </a:r>
          </a:p>
          <a:p>
            <a:r>
              <a:t>Source: https://deu7vkdd3jf5.cloudfront.net/</a:t>
            </a:r>
          </a:p>
          <a:p>
            <a:r>
              <a:t>Captured: 2026-09-25T15:53:02.673807+00:00</a:t>
            </a:r>
          </a:p>
          <a:p>
            <a:r>
              <a:t>SHA-256: 96189fd17a4a748177c3645c1e06719c59fa1194eddbc18cede53770b8a2ab55</a:t>
            </a:r>
          </a:p>
          <a:p>
            <a:r>
              <a:t>Region: .detail-modal.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English crawler and source registry screens. Source counts are operational data and can change. Settings and source edits were not saved during capture. Source credentials are never embedded in the presentation.</a:t>
            </a:r>
          </a:p>
          <a:p>
            <a:r>
              <a:t>Screenshot: Live crawler agents and UTC schedules</a:t>
            </a:r>
          </a:p>
          <a:p>
            <a:r>
              <a:t>Source: https://deu7vkdd3jf5.cloudfront.net/</a:t>
            </a:r>
          </a:p>
          <a:p>
            <a:r>
              <a:t>Captured: 2026-09-25T15:53:03.425214+00:00</a:t>
            </a:r>
          </a:p>
          <a:p>
            <a:r>
              <a:t>SHA-256: fe9d18e56d6efb13673fcb62c50649035688ba6e96f136fceaec89a5f2b496bd</a:t>
            </a:r>
          </a:p>
          <a:p>
            <a:r>
              <a:t>Region: viewport. Actual English interface, no substituted text or synthetic data.</a:t>
            </a:r>
          </a:p>
          <a:p>
            <a:r>
              <a:t>Screenshot: English source registry</a:t>
            </a:r>
          </a:p>
          <a:p>
            <a:r>
              <a:t>Source: https://deu7vkdd3jf5.cloudfront.net/</a:t>
            </a:r>
          </a:p>
          <a:p>
            <a:r>
              <a:t>Captured: 2026-09-25T15:53:03.870613+00:00</a:t>
            </a:r>
          </a:p>
          <a:p>
            <a:r>
              <a:t>SHA-256: fddd2e69a1fa5739776c3d57820c7e01441ade4cf1118a4a9c0b04e42e2fcb8c</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Seller implementation: backend/x402_payment.py. Payments are verified and settled by an external facilitator. The optional research buyer uses AgentCore Payments separately. Base Sepolia testnet USDC only; default 0.002. No payment was executed while capturing or producing this presentation. Successful response includes content and PAYMENT-RESPONSE.</a:t>
            </a:r>
          </a:p>
          <a:p>
            <a:r>
              <a:t>Editable source: docs/architecture/aperture-aws.drawio, page Agent access with x402.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CloudFront -&gt; S3 -&gt; SQS -&gt; Lambda -&gt; Aurora aggregates. HLL and browser events are approximate. S3 raw logs have a lifecycle policy; automatic Aurora analytics cleanup is not configured. Settings switches persist preferences, not runtime controls. See docs/functional-verification.md.</a:t>
            </a:r>
          </a:p>
          <a:p>
            <a:r>
              <a:t>Screenshot: English settings with explicit feature limits</a:t>
            </a:r>
          </a:p>
          <a:p>
            <a:r>
              <a:t>Source: https://deu7vkdd3jf5.cloudfront.net/</a:t>
            </a:r>
          </a:p>
          <a:p>
            <a:r>
              <a:t>Captured: 2026-09-25T15:53:04.273522+00:00</a:t>
            </a:r>
          </a:p>
          <a:p>
            <a:r>
              <a:t>SHA-256: 30769c4262026a5eba1e165b930fb5a67e19d966417b87d6e68f72600766a04d</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HTTP/SSR backend with vanilla frontend assets; managed AWS research tools and a TypeScript Codex worker. Aurora Data API reads are bounded with pagination/chunks and consistent snapshots for large admin responses. No separate graph/vector database is part of the implemented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scripts/start.sh, scripts/create_admin_user.py and docs/deployment.md. Startup creates a venv, installs dependencies and starts local PostgreSQL. Do not load production credentials for local tests. The admin image is the actual production English login screen, included as UI illustration, not a claim of a local capture.</a:t>
            </a:r>
          </a:p>
          <a:p>
            <a:r>
              <a:t>Screenshot: English admin login; no credentials shown</a:t>
            </a:r>
          </a:p>
          <a:p>
            <a:r>
              <a:t>Source: https://deu7vkdd3jf5.cloudfront.net/</a:t>
            </a:r>
          </a:p>
          <a:p>
            <a:r>
              <a:t>Captured: 2026-09-25T15:52:51.037042+00:00</a:t>
            </a:r>
          </a:p>
          <a:p>
            <a:r>
              <a:t>SHA-256: 0732eb337e9e5044a32b15ba3ef6b1b82153ae48c95b82ef2cf1d79473f78e5e</a:t>
            </a:r>
          </a:p>
          <a:p>
            <a:r>
              <a:t>Region: viewport. Actual English interface, no substituted text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docs/deployment.md, infrastructure/aws/README.md and scripts/deploy_*.sh. These scripts are not complete new-account infrastructure bootstraps. Account-specific policy/scheduler files must be adapted. Do not delete/update the legacy CloudFormation stack that still owns live resources. Never run mutating smoke tests against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reports/functional-coverage-2026-09-25.md and JSON; docs/screenshots/manifest.json. 106 tests and 312 crawler checks were completed before this documentation task. Screenshot captures are additional read-only evidence. Known uncached category latency and preference-only controls are documented. Test results do not establish search ranking or adoption.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330"/>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67DCCC"/>
                </a:solidFill>
                <a:latin typeface="Arial"/>
              </a:defRPr>
            </a:pPr>
            <a:r>
              <a:t>AWS REFERENCE APPLICATION</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FFFFFF"/>
                </a:solidFill>
                <a:latin typeface="Arial"/>
              </a:defRPr>
            </a:pPr>
            <a:r>
              <a:t>Aperture Intelligence</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9CADB8"/>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67DCCC"/>
                </a:solidFill>
                <a:latin typeface="Arial"/>
              </a:defRPr>
            </a:pPr>
            <a:r>
              <a:t>01</a:t>
            </a:r>
          </a:p>
        </p:txBody>
      </p:sp>
      <p:sp>
        <p:nvSpPr>
          <p:cNvPr id="6" name="TextBox 5"/>
          <p:cNvSpPr txBox="1"/>
          <p:nvPr/>
        </p:nvSpPr>
        <p:spPr>
          <a:xfrm>
            <a:off x="475488" y="1828800"/>
            <a:ext cx="4069080" cy="1417320"/>
          </a:xfrm>
          <a:prstGeom prst="rect">
            <a:avLst/>
          </a:prstGeom>
          <a:noFill/>
        </p:spPr>
        <p:txBody>
          <a:bodyPr wrap="square" lIns="0" rIns="0" tIns="0" bIns="0" anchor="t">
            <a:spAutoFit/>
          </a:bodyPr>
          <a:lstStyle/>
          <a:p>
            <a:pPr>
              <a:lnSpc>
                <a:spcPct val="112000"/>
              </a:lnSpc>
              <a:spcAft>
                <a:spcPts val="800"/>
              </a:spcAft>
              <a:defRPr sz="3100" b="1">
                <a:solidFill>
                  <a:srgbClr val="FFFFFF"/>
                </a:solidFill>
                <a:latin typeface="Arial"/>
              </a:defRPr>
            </a:pPr>
            <a:r>
              <a:t>From public evidence</a:t>
            </a:r>
          </a:p>
          <a:p>
            <a:pPr>
              <a:lnSpc>
                <a:spcPct val="112000"/>
              </a:lnSpc>
              <a:spcAft>
                <a:spcPts val="800"/>
              </a:spcAft>
              <a:defRPr sz="3100" b="1">
                <a:solidFill>
                  <a:srgbClr val="FFFFFF"/>
                </a:solidFill>
                <a:latin typeface="Arial"/>
              </a:defRPr>
            </a:pPr>
            <a:r>
              <a:t>to reviewed research.</a:t>
            </a:r>
          </a:p>
        </p:txBody>
      </p:sp>
      <p:sp>
        <p:nvSpPr>
          <p:cNvPr id="7" name="TextBox 6"/>
          <p:cNvSpPr txBox="1"/>
          <p:nvPr/>
        </p:nvSpPr>
        <p:spPr>
          <a:xfrm>
            <a:off x="475488" y="3767328"/>
            <a:ext cx="3977639" cy="1325880"/>
          </a:xfrm>
          <a:prstGeom prst="rect">
            <a:avLst/>
          </a:prstGeom>
          <a:noFill/>
        </p:spPr>
        <p:txBody>
          <a:bodyPr wrap="square" lIns="0" rIns="0" tIns="0" bIns="0" anchor="t">
            <a:spAutoFit/>
          </a:bodyPr>
          <a:lstStyle/>
          <a:p>
            <a:pPr>
              <a:lnSpc>
                <a:spcPct val="112000"/>
              </a:lnSpc>
              <a:spcAft>
                <a:spcPts val="800"/>
              </a:spcAft>
              <a:defRPr sz="2100" b="0">
                <a:solidFill>
                  <a:srgbClr val="CCDCE4"/>
                </a:solidFill>
                <a:latin typeface="Arial"/>
              </a:defRPr>
            </a:pPr>
            <a:r>
              <a:t>English-first publishing.</a:t>
            </a:r>
          </a:p>
          <a:p>
            <a:pPr>
              <a:lnSpc>
                <a:spcPct val="112000"/>
              </a:lnSpc>
              <a:spcAft>
                <a:spcPts val="800"/>
              </a:spcAft>
              <a:defRPr sz="2100" b="0">
                <a:solidFill>
                  <a:srgbClr val="CCDCE4"/>
                </a:solidFill>
                <a:latin typeface="Arial"/>
              </a:defRPr>
            </a:pPr>
            <a:r>
              <a:t>Permanent public URLs.</a:t>
            </a:r>
          </a:p>
          <a:p>
            <a:pPr>
              <a:lnSpc>
                <a:spcPct val="112000"/>
              </a:lnSpc>
              <a:spcAft>
                <a:spcPts val="800"/>
              </a:spcAft>
              <a:defRPr sz="2100" b="0">
                <a:solidFill>
                  <a:srgbClr val="CCDCE4"/>
                </a:solidFill>
                <a:latin typeface="Arial"/>
              </a:defRPr>
            </a:pPr>
            <a:r>
              <a:t>Programmatic agent access.</a:t>
            </a:r>
          </a:p>
        </p:txBody>
      </p:sp>
      <p:sp>
        <p:nvSpPr>
          <p:cNvPr id="8" name="TextBox 7"/>
          <p:cNvSpPr txBox="1"/>
          <p:nvPr/>
        </p:nvSpPr>
        <p:spPr>
          <a:xfrm>
            <a:off x="475488" y="5833872"/>
            <a:ext cx="4572000" cy="320040"/>
          </a:xfrm>
          <a:prstGeom prst="rect">
            <a:avLst/>
          </a:prstGeom>
          <a:noFill/>
        </p:spPr>
        <p:txBody>
          <a:bodyPr wrap="square" lIns="0" rIns="0" tIns="0" bIns="0" anchor="t">
            <a:spAutoFit/>
          </a:bodyPr>
          <a:lstStyle/>
          <a:p>
            <a:pPr>
              <a:lnSpc>
                <a:spcPct val="112000"/>
              </a:lnSpc>
              <a:spcAft>
                <a:spcPts val="300"/>
              </a:spcAft>
              <a:defRPr sz="1300" b="0">
                <a:solidFill>
                  <a:srgbClr val="67DCCC"/>
                </a:solidFill>
                <a:latin typeface="Arial"/>
              </a:defRPr>
            </a:pPr>
            <a:r>
              <a:t>Technical overview  •  25 September 2026</a:t>
            </a:r>
          </a:p>
        </p:txBody>
      </p:sp>
      <p:sp>
        <p:nvSpPr>
          <p:cNvPr id="9" name="Rectangle 8"/>
          <p:cNvSpPr/>
          <p:nvPr/>
        </p:nvSpPr>
        <p:spPr>
          <a:xfrm>
            <a:off x="4823459" y="1689353"/>
            <a:ext cx="6885432" cy="4320540"/>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ublic-home-en.png" descr="public-home-en.png"/>
          <p:cNvPicPr>
            <a:picLocks noChangeAspect="1"/>
          </p:cNvPicPr>
          <p:nvPr/>
        </p:nvPicPr>
        <p:blipFill>
          <a:blip r:embed="rId3"/>
          <a:stretch>
            <a:fillRect/>
          </a:stretch>
        </p:blipFill>
        <p:spPr>
          <a:xfrm>
            <a:off x="4846320" y="1712213"/>
            <a:ext cx="6839712" cy="42748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PURPOSE</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One system, three useful outcomes</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02</a:t>
            </a:r>
          </a:p>
        </p:txBody>
      </p:sp>
      <p:sp>
        <p:nvSpPr>
          <p:cNvPr id="6" name="Rounded Rectangle 5"/>
          <p:cNvSpPr/>
          <p:nvPr/>
        </p:nvSpPr>
        <p:spPr>
          <a:xfrm>
            <a:off x="457200" y="1856231"/>
            <a:ext cx="3566160" cy="3566160"/>
          </a:xfrm>
          <a:prstGeom prst="roundRect">
            <a:avLst>
              <a:gd name="adj" fmla="val 6000"/>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1"/>
            <a:ext cx="3108960" cy="640080"/>
          </a:xfrm>
          <a:prstGeom prst="rect">
            <a:avLst/>
          </a:prstGeom>
          <a:noFill/>
        </p:spPr>
        <p:txBody>
          <a:bodyPr wrap="square" lIns="0" rIns="0" tIns="0" bIns="0" anchor="t">
            <a:spAutoFit/>
          </a:bodyPr>
          <a:lstStyle/>
          <a:p>
            <a:pPr>
              <a:lnSpc>
                <a:spcPct val="112000"/>
              </a:lnSpc>
              <a:spcAft>
                <a:spcPts val="800"/>
              </a:spcAft>
              <a:defRPr sz="3500" b="1">
                <a:solidFill>
                  <a:srgbClr val="0E9384"/>
                </a:solidFill>
                <a:latin typeface="Arial"/>
              </a:defRPr>
            </a:pPr>
            <a:r>
              <a:t>01</a:t>
            </a:r>
          </a:p>
        </p:txBody>
      </p:sp>
      <p:sp>
        <p:nvSpPr>
          <p:cNvPr id="8" name="TextBox 7"/>
          <p:cNvSpPr txBox="1"/>
          <p:nvPr/>
        </p:nvSpPr>
        <p:spPr>
          <a:xfrm>
            <a:off x="685800" y="2862072"/>
            <a:ext cx="3108960" cy="8229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Research with evidence</a:t>
            </a:r>
          </a:p>
        </p:txBody>
      </p:sp>
      <p:sp>
        <p:nvSpPr>
          <p:cNvPr id="9" name="TextBox 8"/>
          <p:cNvSpPr txBox="1"/>
          <p:nvPr/>
        </p:nvSpPr>
        <p:spPr>
          <a:xfrm>
            <a:off x="685800" y="3712463"/>
            <a:ext cx="3108960" cy="141732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Collect public material, save source evidence, and review generated conclusions.</a:t>
            </a:r>
          </a:p>
        </p:txBody>
      </p:sp>
      <p:sp>
        <p:nvSpPr>
          <p:cNvPr id="10" name="Rounded Rectangle 9"/>
          <p:cNvSpPr/>
          <p:nvPr/>
        </p:nvSpPr>
        <p:spPr>
          <a:xfrm>
            <a:off x="4315968" y="1856231"/>
            <a:ext cx="3566160" cy="3566160"/>
          </a:xfrm>
          <a:prstGeom prst="roundRect">
            <a:avLst>
              <a:gd name="adj" fmla="val 6000"/>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2084831"/>
            <a:ext cx="3108960" cy="640080"/>
          </a:xfrm>
          <a:prstGeom prst="rect">
            <a:avLst/>
          </a:prstGeom>
          <a:noFill/>
        </p:spPr>
        <p:txBody>
          <a:bodyPr wrap="square" lIns="0" rIns="0" tIns="0" bIns="0" anchor="t">
            <a:spAutoFit/>
          </a:bodyPr>
          <a:lstStyle/>
          <a:p>
            <a:pPr>
              <a:lnSpc>
                <a:spcPct val="112000"/>
              </a:lnSpc>
              <a:spcAft>
                <a:spcPts val="800"/>
              </a:spcAft>
              <a:defRPr sz="3500" b="1">
                <a:solidFill>
                  <a:srgbClr val="0E9384"/>
                </a:solidFill>
                <a:latin typeface="Arial"/>
              </a:defRPr>
            </a:pPr>
            <a:r>
              <a:t>02</a:t>
            </a:r>
          </a:p>
        </p:txBody>
      </p:sp>
      <p:sp>
        <p:nvSpPr>
          <p:cNvPr id="12" name="TextBox 11"/>
          <p:cNvSpPr txBox="1"/>
          <p:nvPr/>
        </p:nvSpPr>
        <p:spPr>
          <a:xfrm>
            <a:off x="4544568" y="2862072"/>
            <a:ext cx="3108960" cy="8229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Publish for discovery</a:t>
            </a:r>
          </a:p>
        </p:txBody>
      </p:sp>
      <p:sp>
        <p:nvSpPr>
          <p:cNvPr id="13" name="TextBox 12"/>
          <p:cNvSpPr txBox="1"/>
          <p:nvPr/>
        </p:nvSpPr>
        <p:spPr>
          <a:xfrm>
            <a:off x="4544568" y="3712463"/>
            <a:ext cx="3108960" cy="141732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Serve readable English and Chinese editions at stable, crawlable URLs.</a:t>
            </a:r>
          </a:p>
        </p:txBody>
      </p:sp>
      <p:sp>
        <p:nvSpPr>
          <p:cNvPr id="14" name="Rounded Rectangle 13"/>
          <p:cNvSpPr/>
          <p:nvPr/>
        </p:nvSpPr>
        <p:spPr>
          <a:xfrm>
            <a:off x="8174736" y="1856231"/>
            <a:ext cx="3566160" cy="3566160"/>
          </a:xfrm>
          <a:prstGeom prst="roundRect">
            <a:avLst>
              <a:gd name="adj" fmla="val 6000"/>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084831"/>
            <a:ext cx="3108960" cy="640080"/>
          </a:xfrm>
          <a:prstGeom prst="rect">
            <a:avLst/>
          </a:prstGeom>
          <a:noFill/>
        </p:spPr>
        <p:txBody>
          <a:bodyPr wrap="square" lIns="0" rIns="0" tIns="0" bIns="0" anchor="t">
            <a:spAutoFit/>
          </a:bodyPr>
          <a:lstStyle/>
          <a:p>
            <a:pPr>
              <a:lnSpc>
                <a:spcPct val="112000"/>
              </a:lnSpc>
              <a:spcAft>
                <a:spcPts val="800"/>
              </a:spcAft>
              <a:defRPr sz="3500" b="1">
                <a:solidFill>
                  <a:srgbClr val="0E9384"/>
                </a:solidFill>
                <a:latin typeface="Arial"/>
              </a:defRPr>
            </a:pPr>
            <a:r>
              <a:t>03</a:t>
            </a:r>
          </a:p>
        </p:txBody>
      </p:sp>
      <p:sp>
        <p:nvSpPr>
          <p:cNvPr id="16" name="TextBox 15"/>
          <p:cNvSpPr txBox="1"/>
          <p:nvPr/>
        </p:nvSpPr>
        <p:spPr>
          <a:xfrm>
            <a:off x="8403336" y="2862072"/>
            <a:ext cx="3108960" cy="8229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Serve people and agents</a:t>
            </a:r>
          </a:p>
        </p:txBody>
      </p:sp>
      <p:sp>
        <p:nvSpPr>
          <p:cNvPr id="17" name="TextBox 16"/>
          <p:cNvSpPr txBox="1"/>
          <p:nvPr/>
        </p:nvSpPr>
        <p:spPr>
          <a:xfrm>
            <a:off x="8403336" y="3712463"/>
            <a:ext cx="3108960" cy="141732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Offer public HTML, open JSON and an x402 payment-protocol demonstration.</a:t>
            </a:r>
          </a:p>
        </p:txBody>
      </p:sp>
      <p:sp>
        <p:nvSpPr>
          <p:cNvPr id="18" name="TextBox 17"/>
          <p:cNvSpPr txBox="1"/>
          <p:nvPr/>
        </p:nvSpPr>
        <p:spPr>
          <a:xfrm>
            <a:off x="502920" y="5815584"/>
            <a:ext cx="11155680" cy="365760"/>
          </a:xfrm>
          <a:prstGeom prst="rect">
            <a:avLst/>
          </a:prstGeom>
          <a:noFill/>
        </p:spPr>
        <p:txBody>
          <a:bodyPr wrap="square" lIns="0" rIns="0" tIns="0" bIns="0" anchor="t">
            <a:spAutoFit/>
          </a:bodyPr>
          <a:lstStyle/>
          <a:p>
            <a:pPr>
              <a:lnSpc>
                <a:spcPct val="112000"/>
              </a:lnSpc>
              <a:spcAft>
                <a:spcPts val="800"/>
              </a:spcAft>
              <a:defRPr sz="2000" b="0">
                <a:solidFill>
                  <a:srgbClr val="56697A"/>
                </a:solidFill>
                <a:latin typeface="Arial"/>
              </a:defRPr>
            </a:pPr>
            <a:r>
              <a:t>Built for engineers exploring the full research-to-publication lifecycle.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PUBLIC EXPERIENCE</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A browsable research publication</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03</a:t>
            </a:r>
          </a:p>
        </p:txBody>
      </p:sp>
      <p:sp>
        <p:nvSpPr>
          <p:cNvPr id="6" name="Rectangle 5"/>
          <p:cNvSpPr/>
          <p:nvPr/>
        </p:nvSpPr>
        <p:spPr>
          <a:xfrm>
            <a:off x="712317" y="1732788"/>
            <a:ext cx="7243876" cy="4544568"/>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ublic-category-en.png" descr="public-category-en.png"/>
          <p:cNvPicPr>
            <a:picLocks noChangeAspect="1"/>
          </p:cNvPicPr>
          <p:nvPr/>
        </p:nvPicPr>
        <p:blipFill>
          <a:blip r:embed="rId3"/>
          <a:stretch>
            <a:fillRect/>
          </a:stretch>
        </p:blipFill>
        <p:spPr>
          <a:xfrm>
            <a:off x="735177" y="1755648"/>
            <a:ext cx="7198156" cy="4498848"/>
          </a:xfrm>
          <a:prstGeom prst="rect">
            <a:avLst/>
          </a:prstGeom>
        </p:spPr>
      </p:pic>
      <p:sp>
        <p:nvSpPr>
          <p:cNvPr id="8" name="TextBox 7"/>
          <p:cNvSpPr txBox="1"/>
          <p:nvPr/>
        </p:nvSpPr>
        <p:spPr>
          <a:xfrm>
            <a:off x="8595360" y="1965960"/>
            <a:ext cx="3017520" cy="594360"/>
          </a:xfrm>
          <a:prstGeom prst="rect">
            <a:avLst/>
          </a:prstGeom>
          <a:noFill/>
        </p:spPr>
        <p:txBody>
          <a:bodyPr wrap="square" lIns="0" rIns="0" tIns="0" bIns="0" anchor="t">
            <a:spAutoFit/>
          </a:bodyPr>
          <a:lstStyle/>
          <a:p>
            <a:pPr>
              <a:lnSpc>
                <a:spcPct val="112000"/>
              </a:lnSpc>
              <a:spcAft>
                <a:spcPts val="800"/>
              </a:spcAft>
              <a:defRPr sz="2400" b="1">
                <a:solidFill>
                  <a:srgbClr val="152A36"/>
                </a:solidFill>
                <a:latin typeface="Arial"/>
              </a:defRPr>
            </a:pPr>
            <a:r>
              <a:t>Five research areas</a:t>
            </a:r>
          </a:p>
        </p:txBody>
      </p:sp>
      <p:sp>
        <p:nvSpPr>
          <p:cNvPr id="9" name="TextBox 8"/>
          <p:cNvSpPr txBox="1"/>
          <p:nvPr/>
        </p:nvSpPr>
        <p:spPr>
          <a:xfrm>
            <a:off x="8595360" y="2816352"/>
            <a:ext cx="3017520" cy="2148840"/>
          </a:xfrm>
          <a:prstGeom prst="rect">
            <a:avLst/>
          </a:prstGeom>
          <a:noFill/>
        </p:spPr>
        <p:txBody>
          <a:bodyPr wrap="square" lIns="0" rIns="0" tIns="0" bIns="0" anchor="t">
            <a:spAutoFit/>
          </a:bodyPr>
          <a:lstStyle/>
          <a:p>
            <a:pPr>
              <a:lnSpc>
                <a:spcPct val="112000"/>
              </a:lnSpc>
              <a:spcAft>
                <a:spcPts val="800"/>
              </a:spcAft>
              <a:defRPr sz="2000" b="0">
                <a:solidFill>
                  <a:srgbClr val="56697A"/>
                </a:solidFill>
                <a:latin typeface="Arial"/>
              </a:defRPr>
            </a:pPr>
            <a:r>
              <a:t>AI industry</a:t>
            </a:r>
          </a:p>
          <a:p>
            <a:pPr>
              <a:lnSpc>
                <a:spcPct val="112000"/>
              </a:lnSpc>
              <a:spcAft>
                <a:spcPts val="800"/>
              </a:spcAft>
              <a:defRPr sz="2000" b="0">
                <a:solidFill>
                  <a:srgbClr val="56697A"/>
                </a:solidFill>
                <a:latin typeface="Arial"/>
              </a:defRPr>
            </a:pPr>
            <a:r>
              <a:t>Agent technology</a:t>
            </a:r>
          </a:p>
          <a:p>
            <a:pPr>
              <a:lnSpc>
                <a:spcPct val="112000"/>
              </a:lnSpc>
              <a:spcAft>
                <a:spcPts val="800"/>
              </a:spcAft>
              <a:defRPr sz="2000" b="0">
                <a:solidFill>
                  <a:srgbClr val="56697A"/>
                </a:solidFill>
                <a:latin typeface="Arial"/>
              </a:defRPr>
            </a:pPr>
            <a:r>
              <a:t>Cloud computing</a:t>
            </a:r>
          </a:p>
          <a:p>
            <a:pPr>
              <a:lnSpc>
                <a:spcPct val="112000"/>
              </a:lnSpc>
              <a:spcAft>
                <a:spcPts val="800"/>
              </a:spcAft>
              <a:defRPr sz="2000" b="0">
                <a:solidFill>
                  <a:srgbClr val="56697A"/>
                </a:solidFill>
                <a:latin typeface="Arial"/>
              </a:defRPr>
            </a:pPr>
            <a:r>
              <a:t>Commerce and media</a:t>
            </a:r>
          </a:p>
          <a:p>
            <a:pPr>
              <a:lnSpc>
                <a:spcPct val="112000"/>
              </a:lnSpc>
              <a:spcAft>
                <a:spcPts val="800"/>
              </a:spcAft>
              <a:defRPr sz="2000" b="0">
                <a:solidFill>
                  <a:srgbClr val="56697A"/>
                </a:solidFill>
                <a:latin typeface="Arial"/>
              </a:defRPr>
            </a:pPr>
            <a:r>
              <a:t>Financial markets</a:t>
            </a:r>
          </a:p>
        </p:txBody>
      </p:sp>
      <p:sp>
        <p:nvSpPr>
          <p:cNvPr id="10" name="TextBox 9"/>
          <p:cNvSpPr txBox="1"/>
          <p:nvPr/>
        </p:nvSpPr>
        <p:spPr>
          <a:xfrm>
            <a:off x="8595360" y="5285232"/>
            <a:ext cx="2971800" cy="731520"/>
          </a:xfrm>
          <a:prstGeom prst="rect">
            <a:avLst/>
          </a:prstGeom>
          <a:noFill/>
        </p:spPr>
        <p:txBody>
          <a:bodyPr wrap="square" lIns="0" rIns="0" tIns="0" bIns="0" anchor="t">
            <a:spAutoFit/>
          </a:bodyPr>
          <a:lstStyle/>
          <a:p>
            <a:pPr>
              <a:lnSpc>
                <a:spcPct val="112000"/>
              </a:lnSpc>
              <a:spcAft>
                <a:spcPts val="800"/>
              </a:spcAft>
              <a:defRPr sz="1800" b="1">
                <a:solidFill>
                  <a:srgbClr val="0E9384"/>
                </a:solidFill>
                <a:latin typeface="Arial"/>
              </a:defRPr>
            </a:pPr>
            <a:r>
              <a:t>Complete categories,</a:t>
            </a:r>
          </a:p>
          <a:p>
            <a:pPr>
              <a:lnSpc>
                <a:spcPct val="112000"/>
              </a:lnSpc>
              <a:spcAft>
                <a:spcPts val="800"/>
              </a:spcAft>
              <a:defRPr sz="1800" b="1">
                <a:solidFill>
                  <a:srgbClr val="0E9384"/>
                </a:solidFill>
                <a:latin typeface="Arial"/>
              </a:defRPr>
            </a:pPr>
            <a:r>
              <a:t>server-rendered links.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BILINGUAL DELIVERY</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English by default, Chinese alongside</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04</a:t>
            </a:r>
          </a:p>
        </p:txBody>
      </p:sp>
      <p:sp>
        <p:nvSpPr>
          <p:cNvPr id="6" name="Rectangle 5"/>
          <p:cNvSpPr/>
          <p:nvPr/>
        </p:nvSpPr>
        <p:spPr>
          <a:xfrm>
            <a:off x="4406493" y="1751076"/>
            <a:ext cx="7170724" cy="4498848"/>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ublic-article-en.png" descr="public-article-en.png"/>
          <p:cNvPicPr>
            <a:picLocks noChangeAspect="1"/>
          </p:cNvPicPr>
          <p:nvPr/>
        </p:nvPicPr>
        <p:blipFill>
          <a:blip r:embed="rId3"/>
          <a:stretch>
            <a:fillRect/>
          </a:stretch>
        </p:blipFill>
        <p:spPr>
          <a:xfrm>
            <a:off x="4429353" y="1773936"/>
            <a:ext cx="7125004" cy="4453128"/>
          </a:xfrm>
          <a:prstGeom prst="rect">
            <a:avLst/>
          </a:prstGeom>
        </p:spPr>
      </p:pic>
      <p:sp>
        <p:nvSpPr>
          <p:cNvPr id="8" name="TextBox 7"/>
          <p:cNvSpPr txBox="1"/>
          <p:nvPr/>
        </p:nvSpPr>
        <p:spPr>
          <a:xfrm>
            <a:off x="502920" y="1938528"/>
            <a:ext cx="3337560" cy="640080"/>
          </a:xfrm>
          <a:prstGeom prst="rect">
            <a:avLst/>
          </a:prstGeom>
          <a:noFill/>
        </p:spPr>
        <p:txBody>
          <a:bodyPr wrap="square" lIns="0" rIns="0" tIns="0" bIns="0" anchor="t">
            <a:spAutoFit/>
          </a:bodyPr>
          <a:lstStyle/>
          <a:p>
            <a:pPr>
              <a:lnSpc>
                <a:spcPct val="112000"/>
              </a:lnSpc>
              <a:spcAft>
                <a:spcPts val="800"/>
              </a:spcAft>
              <a:defRPr sz="2400" b="1">
                <a:solidFill>
                  <a:srgbClr val="152A36"/>
                </a:solidFill>
                <a:latin typeface="Arial"/>
              </a:defRPr>
            </a:pPr>
            <a:r>
              <a:t>One article, two editions</a:t>
            </a:r>
          </a:p>
        </p:txBody>
      </p:sp>
      <p:sp>
        <p:nvSpPr>
          <p:cNvPr id="9" name="TextBox 8"/>
          <p:cNvSpPr txBox="1"/>
          <p:nvPr/>
        </p:nvSpPr>
        <p:spPr>
          <a:xfrm>
            <a:off x="502920" y="2880360"/>
            <a:ext cx="3520440" cy="1280160"/>
          </a:xfrm>
          <a:prstGeom prst="rect">
            <a:avLst/>
          </a:prstGeom>
          <a:noFill/>
        </p:spPr>
        <p:txBody>
          <a:bodyPr wrap="square" lIns="0" rIns="0" tIns="0" bIns="0" anchor="t">
            <a:spAutoFit/>
          </a:bodyPr>
          <a:lstStyle/>
          <a:p>
            <a:pPr>
              <a:lnSpc>
                <a:spcPct val="112000"/>
              </a:lnSpc>
              <a:spcAft>
                <a:spcPts val="800"/>
              </a:spcAft>
              <a:defRPr sz="1800" b="1">
                <a:solidFill>
                  <a:srgbClr val="0E9384"/>
                </a:solidFill>
                <a:latin typeface="Arial"/>
              </a:defRPr>
            </a:pPr>
            <a:r>
              <a:t>EN  /article/{slug}</a:t>
            </a:r>
          </a:p>
          <a:p>
            <a:pPr>
              <a:lnSpc>
                <a:spcPct val="112000"/>
              </a:lnSpc>
              <a:spcAft>
                <a:spcPts val="800"/>
              </a:spcAft>
              <a:defRPr sz="1800" b="1">
                <a:solidFill>
                  <a:srgbClr val="0E9384"/>
                </a:solidFill>
                <a:latin typeface="Arial"/>
              </a:defRPr>
            </a:pPr>
            <a:r>
              <a:t>ZH  /zh/article/{slug}</a:t>
            </a:r>
          </a:p>
        </p:txBody>
      </p:sp>
      <p:sp>
        <p:nvSpPr>
          <p:cNvPr id="10" name="TextBox 9"/>
          <p:cNvSpPr txBox="1"/>
          <p:nvPr/>
        </p:nvSpPr>
        <p:spPr>
          <a:xfrm>
            <a:off x="502920" y="4151376"/>
            <a:ext cx="3429000" cy="1709928"/>
          </a:xfrm>
          <a:prstGeom prst="rect">
            <a:avLst/>
          </a:prstGeom>
          <a:noFill/>
        </p:spPr>
        <p:txBody>
          <a:bodyPr wrap="square" lIns="0" rIns="0" tIns="0" bIns="0" anchor="t">
            <a:spAutoFit/>
          </a:bodyPr>
          <a:lstStyle/>
          <a:p>
            <a:pPr>
              <a:lnSpc>
                <a:spcPct val="112000"/>
              </a:lnSpc>
              <a:spcAft>
                <a:spcPts val="800"/>
              </a:spcAft>
              <a:defRPr sz="2000" b="0">
                <a:solidFill>
                  <a:srgbClr val="56697A"/>
                </a:solidFill>
                <a:latin typeface="Arial"/>
              </a:defRPr>
            </a:pPr>
            <a:r>
              <a:t>Full reviewed translations.</a:t>
            </a:r>
          </a:p>
          <a:p>
            <a:pPr>
              <a:lnSpc>
                <a:spcPct val="112000"/>
              </a:lnSpc>
              <a:spcAft>
                <a:spcPts val="800"/>
              </a:spcAft>
              <a:defRPr sz="2000" b="0">
                <a:solidFill>
                  <a:srgbClr val="56697A"/>
                </a:solidFill>
                <a:latin typeface="Arial"/>
              </a:defRPr>
            </a:pPr>
            <a:r>
              <a:t>Page-preserving switching.</a:t>
            </a:r>
          </a:p>
          <a:p>
            <a:pPr>
              <a:lnSpc>
                <a:spcPct val="112000"/>
              </a:lnSpc>
              <a:spcAft>
                <a:spcPts val="800"/>
              </a:spcAft>
              <a:defRPr sz="2000" b="0">
                <a:solidFill>
                  <a:srgbClr val="56697A"/>
                </a:solidFill>
                <a:latin typeface="Arial"/>
              </a:defRPr>
            </a:pPr>
            <a:r>
              <a:t>Canonical + hreflang.</a:t>
            </a:r>
          </a:p>
          <a:p>
            <a:pPr>
              <a:lnSpc>
                <a:spcPct val="112000"/>
              </a:lnSpc>
              <a:spcAft>
                <a:spcPts val="800"/>
              </a:spcAft>
              <a:defRPr sz="2000" b="0">
                <a:solidFill>
                  <a:srgbClr val="56697A"/>
                </a:solidFill>
                <a:latin typeface="Arial"/>
              </a:defRPr>
            </a:pPr>
            <a:r>
              <a:t>Bilingual sitemap and RSS.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SEARCH AND NAVIGATION</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Discovery continues inside the site</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05</a:t>
            </a:r>
          </a:p>
        </p:txBody>
      </p:sp>
      <p:sp>
        <p:nvSpPr>
          <p:cNvPr id="6" name="Rectangle 5"/>
          <p:cNvSpPr/>
          <p:nvPr/>
        </p:nvSpPr>
        <p:spPr>
          <a:xfrm>
            <a:off x="480394" y="1741932"/>
            <a:ext cx="4223858" cy="4553712"/>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ublic-search-en.png" descr="public-search-en.png"/>
          <p:cNvPicPr>
            <a:picLocks noChangeAspect="1"/>
          </p:cNvPicPr>
          <p:nvPr/>
        </p:nvPicPr>
        <p:blipFill>
          <a:blip r:embed="rId3"/>
          <a:stretch>
            <a:fillRect/>
          </a:stretch>
        </p:blipFill>
        <p:spPr>
          <a:xfrm>
            <a:off x="503254" y="1764792"/>
            <a:ext cx="4178138" cy="4507992"/>
          </a:xfrm>
          <a:prstGeom prst="rect">
            <a:avLst/>
          </a:prstGeom>
        </p:spPr>
      </p:pic>
      <p:sp>
        <p:nvSpPr>
          <p:cNvPr id="8" name="TextBox 7"/>
          <p:cNvSpPr txBox="1"/>
          <p:nvPr/>
        </p:nvSpPr>
        <p:spPr>
          <a:xfrm>
            <a:off x="5321808" y="2057400"/>
            <a:ext cx="6080760" cy="640080"/>
          </a:xfrm>
          <a:prstGeom prst="rect">
            <a:avLst/>
          </a:prstGeom>
          <a:noFill/>
        </p:spPr>
        <p:txBody>
          <a:bodyPr wrap="square" lIns="0" rIns="0" tIns="0" bIns="0" anchor="t">
            <a:spAutoFit/>
          </a:bodyPr>
          <a:lstStyle/>
          <a:p>
            <a:pPr>
              <a:lnSpc>
                <a:spcPct val="112000"/>
              </a:lnSpc>
              <a:spcAft>
                <a:spcPts val="800"/>
              </a:spcAft>
              <a:defRPr sz="2700" b="1">
                <a:solidFill>
                  <a:srgbClr val="152A36"/>
                </a:solidFill>
                <a:latin typeface="Arial"/>
              </a:defRPr>
            </a:pPr>
            <a:r>
              <a:t>Search the reviewed catalogue</a:t>
            </a:r>
          </a:p>
        </p:txBody>
      </p:sp>
      <p:sp>
        <p:nvSpPr>
          <p:cNvPr id="9" name="TextBox 8"/>
          <p:cNvSpPr txBox="1"/>
          <p:nvPr/>
        </p:nvSpPr>
        <p:spPr>
          <a:xfrm>
            <a:off x="5321808" y="3063240"/>
            <a:ext cx="5760720" cy="2011680"/>
          </a:xfrm>
          <a:prstGeom prst="rect">
            <a:avLst/>
          </a:prstGeom>
          <a:noFill/>
        </p:spPr>
        <p:txBody>
          <a:bodyPr wrap="square" lIns="0" rIns="0" tIns="0" bIns="0" anchor="t">
            <a:spAutoFit/>
          </a:bodyPr>
          <a:lstStyle/>
          <a:p>
            <a:pPr>
              <a:lnSpc>
                <a:spcPct val="112000"/>
              </a:lnSpc>
              <a:spcAft>
                <a:spcPts val="800"/>
              </a:spcAft>
              <a:defRPr sz="2100" b="0">
                <a:solidFill>
                  <a:srgbClr val="56697A"/>
                </a:solidFill>
                <a:latin typeface="Arial"/>
              </a:defRPr>
            </a:pPr>
            <a:r>
              <a:t>Search results use the selected language.</a:t>
            </a:r>
          </a:p>
          <a:p>
            <a:pPr>
              <a:lnSpc>
                <a:spcPct val="112000"/>
              </a:lnSpc>
              <a:spcAft>
                <a:spcPts val="800"/>
              </a:spcAft>
              <a:defRPr sz="2100" b="0">
                <a:solidFill>
                  <a:srgbClr val="56697A"/>
                </a:solidFill>
                <a:latin typeface="Arial"/>
              </a:defRPr>
            </a:pPr>
            <a:r>
              <a:t>Categories expose every published article.</a:t>
            </a:r>
          </a:p>
          <a:p>
            <a:pPr>
              <a:lnSpc>
                <a:spcPct val="112000"/>
              </a:lnSpc>
              <a:spcAft>
                <a:spcPts val="800"/>
              </a:spcAft>
              <a:defRPr sz="2100" b="0">
                <a:solidFill>
                  <a:srgbClr val="56697A"/>
                </a:solidFill>
                <a:latin typeface="Arial"/>
              </a:defRPr>
            </a:pPr>
            <a:r>
              <a:t>Related reading and RSS offer a next step.</a:t>
            </a:r>
          </a:p>
          <a:p>
            <a:pPr>
              <a:lnSpc>
                <a:spcPct val="112000"/>
              </a:lnSpc>
              <a:spcAft>
                <a:spcPts val="800"/>
              </a:spcAft>
              <a:defRPr sz="2100" b="0">
                <a:solidFill>
                  <a:srgbClr val="56697A"/>
                </a:solidFill>
                <a:latin typeface="Arial"/>
              </a:defRPr>
            </a:pPr>
            <a:r>
              <a:t>Direct visits and client navigation share SSR.</a:t>
            </a:r>
          </a:p>
        </p:txBody>
      </p:sp>
      <p:sp>
        <p:nvSpPr>
          <p:cNvPr id="10" name="Rounded Rectangle 9"/>
          <p:cNvSpPr/>
          <p:nvPr/>
        </p:nvSpPr>
        <p:spPr>
          <a:xfrm>
            <a:off x="5303520" y="5449824"/>
            <a:ext cx="5916168" cy="630936"/>
          </a:xfrm>
          <a:prstGeom prst="roundRect">
            <a:avLst>
              <a:gd name="adj" fmla="val 6000"/>
            </a:avLst>
          </a:prstGeom>
          <a:solidFill>
            <a:srgbClr val="E3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04688" y="5614416"/>
            <a:ext cx="5559552" cy="310896"/>
          </a:xfrm>
          <a:prstGeom prst="rect">
            <a:avLst/>
          </a:prstGeom>
          <a:noFill/>
        </p:spPr>
        <p:txBody>
          <a:bodyPr wrap="square" lIns="0" rIns="0" tIns="0" bIns="0" anchor="t">
            <a:spAutoFit/>
          </a:bodyPr>
          <a:lstStyle/>
          <a:p>
            <a:pPr>
              <a:lnSpc>
                <a:spcPct val="112000"/>
              </a:lnSpc>
              <a:spcAft>
                <a:spcPts val="300"/>
              </a:spcAft>
              <a:defRPr sz="1600" b="1">
                <a:solidFill>
                  <a:srgbClr val="0E9384"/>
                </a:solidFill>
                <a:latin typeface="Arial"/>
              </a:defRPr>
            </a:pPr>
            <a:r>
              <a:t>Verified discovery paths. No ranking guarantee.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pic>
        <p:nvPicPr>
          <p:cNvPr id="2" name="aws-overview.png" descr="aws-overview.png"/>
          <p:cNvPicPr>
            <a:picLocks noChangeAspect="1"/>
          </p:cNvPicPr>
          <p:nvPr/>
        </p:nvPicPr>
        <p:blipFill>
          <a:blip r:embed="rId3"/>
          <a:stretch>
            <a:fillRect/>
          </a:stretch>
        </p:blipFill>
        <p:spPr>
          <a:xfrm>
            <a:off x="557963" y="18288"/>
            <a:ext cx="11076073" cy="6537960"/>
          </a:xfrm>
          <a:prstGeom prst="rect">
            <a:avLst/>
          </a:prstGeom>
        </p:spPr>
      </p:pic>
      <p:sp>
        <p:nvSpPr>
          <p:cNvPr id="3" name="TextBox 2"/>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4" name="TextBox 3"/>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IMPLEMENTATION</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Research runs asynchronously</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07</a:t>
            </a:r>
          </a:p>
        </p:txBody>
      </p:sp>
      <p:sp>
        <p:nvSpPr>
          <p:cNvPr id="6" name="Rounded Rectangle 5"/>
          <p:cNvSpPr/>
          <p:nvPr/>
        </p:nvSpPr>
        <p:spPr>
          <a:xfrm>
            <a:off x="457200" y="1847088"/>
            <a:ext cx="3566160" cy="3566160"/>
          </a:xfrm>
          <a:prstGeom prst="roundRect">
            <a:avLst>
              <a:gd name="adj" fmla="val 6000"/>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75688"/>
            <a:ext cx="3108960" cy="640080"/>
          </a:xfrm>
          <a:prstGeom prst="rect">
            <a:avLst/>
          </a:prstGeom>
          <a:noFill/>
        </p:spPr>
        <p:txBody>
          <a:bodyPr wrap="square" lIns="0" rIns="0" tIns="0" bIns="0" anchor="t">
            <a:spAutoFit/>
          </a:bodyPr>
          <a:lstStyle/>
          <a:p>
            <a:pPr>
              <a:lnSpc>
                <a:spcPct val="112000"/>
              </a:lnSpc>
              <a:spcAft>
                <a:spcPts val="800"/>
              </a:spcAft>
              <a:defRPr sz="3500" b="1">
                <a:solidFill>
                  <a:srgbClr val="0E9384"/>
                </a:solidFill>
                <a:latin typeface="Arial"/>
              </a:defRPr>
            </a:pPr>
            <a:r>
              <a:t>1</a:t>
            </a:r>
          </a:p>
        </p:txBody>
      </p:sp>
      <p:sp>
        <p:nvSpPr>
          <p:cNvPr id="8" name="TextBox 7"/>
          <p:cNvSpPr txBox="1"/>
          <p:nvPr/>
        </p:nvSpPr>
        <p:spPr>
          <a:xfrm>
            <a:off x="685800" y="2852928"/>
            <a:ext cx="3108960" cy="8229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Schedule and dispatch</a:t>
            </a:r>
          </a:p>
        </p:txBody>
      </p:sp>
      <p:sp>
        <p:nvSpPr>
          <p:cNvPr id="9" name="TextBox 8"/>
          <p:cNvSpPr txBox="1"/>
          <p:nvPr/>
        </p:nvSpPr>
        <p:spPr>
          <a:xfrm>
            <a:off x="685800" y="3703320"/>
            <a:ext cx="3108960" cy="141732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EventBridge schedules a Lambda bridge. The bridge waits for runtime acceptance.</a:t>
            </a:r>
          </a:p>
        </p:txBody>
      </p:sp>
      <p:sp>
        <p:nvSpPr>
          <p:cNvPr id="10" name="Rounded Rectangle 9"/>
          <p:cNvSpPr/>
          <p:nvPr/>
        </p:nvSpPr>
        <p:spPr>
          <a:xfrm>
            <a:off x="4315968" y="1847088"/>
            <a:ext cx="3566160" cy="3566160"/>
          </a:xfrm>
          <a:prstGeom prst="roundRect">
            <a:avLst>
              <a:gd name="adj" fmla="val 6000"/>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2075688"/>
            <a:ext cx="3108960" cy="640080"/>
          </a:xfrm>
          <a:prstGeom prst="rect">
            <a:avLst/>
          </a:prstGeom>
          <a:noFill/>
        </p:spPr>
        <p:txBody>
          <a:bodyPr wrap="square" lIns="0" rIns="0" tIns="0" bIns="0" anchor="t">
            <a:spAutoFit/>
          </a:bodyPr>
          <a:lstStyle/>
          <a:p>
            <a:pPr>
              <a:lnSpc>
                <a:spcPct val="112000"/>
              </a:lnSpc>
              <a:spcAft>
                <a:spcPts val="800"/>
              </a:spcAft>
              <a:defRPr sz="3500" b="1">
                <a:solidFill>
                  <a:srgbClr val="0E9384"/>
                </a:solidFill>
                <a:latin typeface="Arial"/>
              </a:defRPr>
            </a:pPr>
            <a:r>
              <a:t>2</a:t>
            </a:r>
          </a:p>
        </p:txBody>
      </p:sp>
      <p:sp>
        <p:nvSpPr>
          <p:cNvPr id="12" name="TextBox 11"/>
          <p:cNvSpPr txBox="1"/>
          <p:nvPr/>
        </p:nvSpPr>
        <p:spPr>
          <a:xfrm>
            <a:off x="4544568" y="2852928"/>
            <a:ext cx="3108960" cy="8229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Collect and analyze</a:t>
            </a:r>
          </a:p>
        </p:txBody>
      </p:sp>
      <p:sp>
        <p:nvSpPr>
          <p:cNvPr id="13" name="TextBox 12"/>
          <p:cNvSpPr txBox="1"/>
          <p:nvPr/>
        </p:nvSpPr>
        <p:spPr>
          <a:xfrm>
            <a:off x="4544568" y="3703320"/>
            <a:ext cx="3108960" cy="141732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The runtime selects sources, generates crawler code and retrieves evidence with managed tools.</a:t>
            </a:r>
          </a:p>
        </p:txBody>
      </p:sp>
      <p:sp>
        <p:nvSpPr>
          <p:cNvPr id="14" name="Rounded Rectangle 13"/>
          <p:cNvSpPr/>
          <p:nvPr/>
        </p:nvSpPr>
        <p:spPr>
          <a:xfrm>
            <a:off x="8174736" y="1847088"/>
            <a:ext cx="3566160" cy="3566160"/>
          </a:xfrm>
          <a:prstGeom prst="roundRect">
            <a:avLst>
              <a:gd name="adj" fmla="val 6000"/>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075688"/>
            <a:ext cx="3108960" cy="640080"/>
          </a:xfrm>
          <a:prstGeom prst="rect">
            <a:avLst/>
          </a:prstGeom>
          <a:noFill/>
        </p:spPr>
        <p:txBody>
          <a:bodyPr wrap="square" lIns="0" rIns="0" tIns="0" bIns="0" anchor="t">
            <a:spAutoFit/>
          </a:bodyPr>
          <a:lstStyle/>
          <a:p>
            <a:pPr>
              <a:lnSpc>
                <a:spcPct val="112000"/>
              </a:lnSpc>
              <a:spcAft>
                <a:spcPts val="800"/>
              </a:spcAft>
              <a:defRPr sz="3500" b="1">
                <a:solidFill>
                  <a:srgbClr val="0E9384"/>
                </a:solidFill>
                <a:latin typeface="Arial"/>
              </a:defRPr>
            </a:pPr>
            <a:r>
              <a:t>3</a:t>
            </a:r>
          </a:p>
        </p:txBody>
      </p:sp>
      <p:sp>
        <p:nvSpPr>
          <p:cNvPr id="16" name="TextBox 15"/>
          <p:cNvSpPr txBox="1"/>
          <p:nvPr/>
        </p:nvSpPr>
        <p:spPr>
          <a:xfrm>
            <a:off x="8403336" y="2852928"/>
            <a:ext cx="3108960" cy="8229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Record and review</a:t>
            </a:r>
          </a:p>
        </p:txBody>
      </p:sp>
      <p:sp>
        <p:nvSpPr>
          <p:cNvPr id="17" name="TextBox 16"/>
          <p:cNvSpPr txBox="1"/>
          <p:nvPr/>
        </p:nvSpPr>
        <p:spPr>
          <a:xfrm>
            <a:off x="8403336" y="3703320"/>
            <a:ext cx="3108960" cy="141732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Aurora stores job state, evidence, research output and publication decisions.</a:t>
            </a:r>
          </a:p>
        </p:txBody>
      </p:sp>
      <p:sp>
        <p:nvSpPr>
          <p:cNvPr id="18" name="TextBox 17"/>
          <p:cNvSpPr txBox="1"/>
          <p:nvPr/>
        </p:nvSpPr>
        <p:spPr>
          <a:xfrm>
            <a:off x="502920" y="5833872"/>
            <a:ext cx="11064240" cy="365760"/>
          </a:xfrm>
          <a:prstGeom prst="rect">
            <a:avLst/>
          </a:prstGeom>
          <a:noFill/>
        </p:spPr>
        <p:txBody>
          <a:bodyPr wrap="square" lIns="0" rIns="0" tIns="0" bIns="0" anchor="t">
            <a:spAutoFit/>
          </a:bodyPr>
          <a:lstStyle/>
          <a:p>
            <a:pPr>
              <a:lnSpc>
                <a:spcPct val="112000"/>
              </a:lnSpc>
              <a:spcAft>
                <a:spcPts val="800"/>
              </a:spcAft>
              <a:defRPr sz="1800" b="0">
                <a:solidFill>
                  <a:srgbClr val="56697A"/>
                </a:solidFill>
                <a:latin typeface="Arial"/>
              </a:defRPr>
            </a:pPr>
            <a:r>
              <a:t>Codex SDK generates crawler code; Browser and Code Interpreter perform retrieval and execution.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pic>
        <p:nvPicPr>
          <p:cNvPr id="2" name="publication-pipeline.png" descr="publication-pipeline.png"/>
          <p:cNvPicPr>
            <a:picLocks noChangeAspect="1"/>
          </p:cNvPicPr>
          <p:nvPr/>
        </p:nvPicPr>
        <p:blipFill>
          <a:blip r:embed="rId3"/>
          <a:stretch>
            <a:fillRect/>
          </a:stretch>
        </p:blipFill>
        <p:spPr>
          <a:xfrm>
            <a:off x="73152" y="108542"/>
            <a:ext cx="12045695" cy="6357450"/>
          </a:xfrm>
          <a:prstGeom prst="rect">
            <a:avLst/>
          </a:prstGeom>
        </p:spPr>
      </p:pic>
      <p:sp>
        <p:nvSpPr>
          <p:cNvPr id="3" name="TextBox 2"/>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4" name="TextBox 3"/>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2330"/>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67DCCC"/>
                </a:solidFill>
                <a:latin typeface="Arial"/>
              </a:defRPr>
            </a:pPr>
            <a:r>
              <a:t>PUBLICATION AND SEARCH</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FFFFFF"/>
                </a:solidFill>
                <a:latin typeface="Arial"/>
              </a:defRPr>
            </a:pPr>
            <a:r>
              <a:t>New content must not erase old URLs</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9CADB8"/>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67DCCC"/>
                </a:solidFill>
                <a:latin typeface="Arial"/>
              </a:defRPr>
            </a:pPr>
            <a:r>
              <a:t>09</a:t>
            </a:r>
          </a:p>
        </p:txBody>
      </p:sp>
      <p:sp>
        <p:nvSpPr>
          <p:cNvPr id="6" name="TextBox 5"/>
          <p:cNvSpPr txBox="1"/>
          <p:nvPr/>
        </p:nvSpPr>
        <p:spPr>
          <a:xfrm>
            <a:off x="502920" y="1856231"/>
            <a:ext cx="3383280" cy="914400"/>
          </a:xfrm>
          <a:prstGeom prst="rect">
            <a:avLst/>
          </a:prstGeom>
          <a:noFill/>
        </p:spPr>
        <p:txBody>
          <a:bodyPr wrap="square" lIns="0" rIns="0" tIns="0" bIns="0" anchor="t">
            <a:spAutoFit/>
          </a:bodyPr>
          <a:lstStyle/>
          <a:p>
            <a:pPr>
              <a:lnSpc>
                <a:spcPct val="112000"/>
              </a:lnSpc>
              <a:spcAft>
                <a:spcPts val="800"/>
              </a:spcAft>
              <a:defRPr sz="5400" b="1">
                <a:solidFill>
                  <a:srgbClr val="67DCCC"/>
                </a:solidFill>
                <a:latin typeface="Arial"/>
              </a:defRPr>
            </a:pPr>
            <a:r>
              <a:t>41</a:t>
            </a:r>
          </a:p>
        </p:txBody>
      </p:sp>
      <p:sp>
        <p:nvSpPr>
          <p:cNvPr id="7" name="TextBox 6"/>
          <p:cNvSpPr txBox="1"/>
          <p:nvPr/>
        </p:nvSpPr>
        <p:spPr>
          <a:xfrm>
            <a:off x="502920" y="2852928"/>
            <a:ext cx="3383280" cy="502920"/>
          </a:xfrm>
          <a:prstGeom prst="rect">
            <a:avLst/>
          </a:prstGeom>
          <a:noFill/>
        </p:spPr>
        <p:txBody>
          <a:bodyPr wrap="square" lIns="0" rIns="0" tIns="0" bIns="0" anchor="t">
            <a:spAutoFit/>
          </a:bodyPr>
          <a:lstStyle/>
          <a:p>
            <a:pPr>
              <a:lnSpc>
                <a:spcPct val="112000"/>
              </a:lnSpc>
              <a:spcAft>
                <a:spcPts val="800"/>
              </a:spcAft>
              <a:defRPr sz="2000" b="0">
                <a:solidFill>
                  <a:srgbClr val="FFFFFF"/>
                </a:solidFill>
                <a:latin typeface="Arial"/>
              </a:defRPr>
            </a:pPr>
            <a:r>
              <a:t>published articles</a:t>
            </a:r>
          </a:p>
        </p:txBody>
      </p:sp>
      <p:sp>
        <p:nvSpPr>
          <p:cNvPr id="8" name="TextBox 7"/>
          <p:cNvSpPr txBox="1"/>
          <p:nvPr/>
        </p:nvSpPr>
        <p:spPr>
          <a:xfrm>
            <a:off x="4370832" y="1856231"/>
            <a:ext cx="3383280" cy="914400"/>
          </a:xfrm>
          <a:prstGeom prst="rect">
            <a:avLst/>
          </a:prstGeom>
          <a:noFill/>
        </p:spPr>
        <p:txBody>
          <a:bodyPr wrap="square" lIns="0" rIns="0" tIns="0" bIns="0" anchor="t">
            <a:spAutoFit/>
          </a:bodyPr>
          <a:lstStyle/>
          <a:p>
            <a:pPr>
              <a:lnSpc>
                <a:spcPct val="112000"/>
              </a:lnSpc>
              <a:spcAft>
                <a:spcPts val="800"/>
              </a:spcAft>
              <a:defRPr sz="5400" b="1">
                <a:solidFill>
                  <a:srgbClr val="67DCCC"/>
                </a:solidFill>
                <a:latin typeface="Arial"/>
              </a:defRPr>
            </a:pPr>
            <a:r>
              <a:t>104</a:t>
            </a:r>
          </a:p>
        </p:txBody>
      </p:sp>
      <p:sp>
        <p:nvSpPr>
          <p:cNvPr id="9" name="TextBox 8"/>
          <p:cNvSpPr txBox="1"/>
          <p:nvPr/>
        </p:nvSpPr>
        <p:spPr>
          <a:xfrm>
            <a:off x="4370832" y="2852928"/>
            <a:ext cx="3383280" cy="502920"/>
          </a:xfrm>
          <a:prstGeom prst="rect">
            <a:avLst/>
          </a:prstGeom>
          <a:noFill/>
        </p:spPr>
        <p:txBody>
          <a:bodyPr wrap="square" lIns="0" rIns="0" tIns="0" bIns="0" anchor="t">
            <a:spAutoFit/>
          </a:bodyPr>
          <a:lstStyle/>
          <a:p>
            <a:pPr>
              <a:lnSpc>
                <a:spcPct val="112000"/>
              </a:lnSpc>
              <a:spcAft>
                <a:spcPts val="800"/>
              </a:spcAft>
              <a:defRPr sz="2000" b="0">
                <a:solidFill>
                  <a:srgbClr val="FFFFFF"/>
                </a:solidFill>
                <a:latin typeface="Arial"/>
              </a:defRPr>
            </a:pPr>
            <a:r>
              <a:t>bilingual public URLs</a:t>
            </a:r>
          </a:p>
        </p:txBody>
      </p:sp>
      <p:sp>
        <p:nvSpPr>
          <p:cNvPr id="10" name="TextBox 9"/>
          <p:cNvSpPr txBox="1"/>
          <p:nvPr/>
        </p:nvSpPr>
        <p:spPr>
          <a:xfrm>
            <a:off x="8229600" y="1856231"/>
            <a:ext cx="3383280" cy="914400"/>
          </a:xfrm>
          <a:prstGeom prst="rect">
            <a:avLst/>
          </a:prstGeom>
          <a:noFill/>
        </p:spPr>
        <p:txBody>
          <a:bodyPr wrap="square" lIns="0" rIns="0" tIns="0" bIns="0" anchor="t">
            <a:spAutoFit/>
          </a:bodyPr>
          <a:lstStyle/>
          <a:p>
            <a:pPr>
              <a:lnSpc>
                <a:spcPct val="112000"/>
              </a:lnSpc>
              <a:spcAft>
                <a:spcPts val="800"/>
              </a:spcAft>
              <a:defRPr sz="5400" b="1">
                <a:solidFill>
                  <a:srgbClr val="67DCCC"/>
                </a:solidFill>
                <a:latin typeface="Arial"/>
              </a:defRPr>
            </a:pPr>
            <a:r>
              <a:t>19</a:t>
            </a:r>
          </a:p>
        </p:txBody>
      </p:sp>
      <p:sp>
        <p:nvSpPr>
          <p:cNvPr id="11" name="TextBox 10"/>
          <p:cNvSpPr txBox="1"/>
          <p:nvPr/>
        </p:nvSpPr>
        <p:spPr>
          <a:xfrm>
            <a:off x="8229600" y="2852928"/>
            <a:ext cx="3383280" cy="502920"/>
          </a:xfrm>
          <a:prstGeom prst="rect">
            <a:avLst/>
          </a:prstGeom>
          <a:noFill/>
        </p:spPr>
        <p:txBody>
          <a:bodyPr wrap="square" lIns="0" rIns="0" tIns="0" bIns="0" anchor="t">
            <a:spAutoFit/>
          </a:bodyPr>
          <a:lstStyle/>
          <a:p>
            <a:pPr>
              <a:lnSpc>
                <a:spcPct val="112000"/>
              </a:lnSpc>
              <a:spcAft>
                <a:spcPts val="800"/>
              </a:spcAft>
              <a:defRPr sz="2000" b="0">
                <a:solidFill>
                  <a:srgbClr val="FFFFFF"/>
                </a:solidFill>
                <a:latin typeface="Arial"/>
              </a:defRPr>
            </a:pPr>
            <a:r>
              <a:t>legacy redirect mappings</a:t>
            </a:r>
          </a:p>
        </p:txBody>
      </p:sp>
      <p:sp>
        <p:nvSpPr>
          <p:cNvPr id="12" name="TextBox 11"/>
          <p:cNvSpPr txBox="1"/>
          <p:nvPr/>
        </p:nvSpPr>
        <p:spPr>
          <a:xfrm>
            <a:off x="502920" y="3904487"/>
            <a:ext cx="10972800" cy="1737360"/>
          </a:xfrm>
          <a:prstGeom prst="rect">
            <a:avLst/>
          </a:prstGeom>
          <a:noFill/>
        </p:spPr>
        <p:txBody>
          <a:bodyPr wrap="square" lIns="0" rIns="0" tIns="0" bIns="0" anchor="t">
            <a:spAutoFit/>
          </a:bodyPr>
          <a:lstStyle/>
          <a:p>
            <a:pPr>
              <a:lnSpc>
                <a:spcPct val="112000"/>
              </a:lnSpc>
              <a:spcAft>
                <a:spcPts val="800"/>
              </a:spcAft>
              <a:defRPr sz="2400" b="0">
                <a:solidFill>
                  <a:srgbClr val="FFFFFF"/>
                </a:solidFill>
                <a:latin typeface="Arial"/>
              </a:defRPr>
            </a:pPr>
            <a:r>
              <a:t>Published status and slugs are protected by the database.</a:t>
            </a:r>
          </a:p>
          <a:p>
            <a:pPr>
              <a:lnSpc>
                <a:spcPct val="112000"/>
              </a:lnSpc>
              <a:spcAft>
                <a:spcPts val="800"/>
              </a:spcAft>
              <a:defRPr sz="2400" b="0">
                <a:solidFill>
                  <a:srgbClr val="FFFFFF"/>
                </a:solidFill>
                <a:latin typeface="Arial"/>
              </a:defRPr>
            </a:pPr>
            <a:r>
              <a:t>Reviewed repairs use a specific 301 or restore the original URL.</a:t>
            </a:r>
          </a:p>
          <a:p>
            <a:pPr>
              <a:lnSpc>
                <a:spcPct val="112000"/>
              </a:lnSpc>
              <a:spcAft>
                <a:spcPts val="800"/>
              </a:spcAft>
              <a:defRPr sz="2400" b="0">
                <a:solidFill>
                  <a:srgbClr val="FFFFFF"/>
                </a:solidFill>
                <a:latin typeface="Arial"/>
              </a:defRPr>
            </a:pPr>
            <a:r>
              <a:t>New duplicates remain under review; existing pages stay available.</a:t>
            </a:r>
          </a:p>
        </p:txBody>
      </p:sp>
      <p:sp>
        <p:nvSpPr>
          <p:cNvPr id="13" name="TextBox 12"/>
          <p:cNvSpPr txBox="1"/>
          <p:nvPr/>
        </p:nvSpPr>
        <p:spPr>
          <a:xfrm>
            <a:off x="502920" y="5980176"/>
            <a:ext cx="11018520" cy="274320"/>
          </a:xfrm>
          <a:prstGeom prst="rect">
            <a:avLst/>
          </a:prstGeom>
          <a:noFill/>
        </p:spPr>
        <p:txBody>
          <a:bodyPr wrap="square" lIns="0" rIns="0" tIns="0" bIns="0" anchor="t">
            <a:spAutoFit/>
          </a:bodyPr>
          <a:lstStyle/>
          <a:p>
            <a:pPr>
              <a:lnSpc>
                <a:spcPct val="112000"/>
              </a:lnSpc>
              <a:spcAft>
                <a:spcPts val="300"/>
              </a:spcAft>
              <a:defRPr sz="1400" b="0">
                <a:solidFill>
                  <a:srgbClr val="67DCCC"/>
                </a:solidFill>
                <a:latin typeface="Arial"/>
              </a:defRPr>
            </a:pPr>
            <a:r>
              <a:t>Snapshot: 25 Sep 2026  •  Bing accepted the update; acceptance does not confirm indexing.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ADMINISTRATION</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An English console for daily operations</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10</a:t>
            </a:r>
          </a:p>
        </p:txBody>
      </p:sp>
      <p:sp>
        <p:nvSpPr>
          <p:cNvPr id="6" name="Rectangle 5"/>
          <p:cNvSpPr/>
          <p:nvPr/>
        </p:nvSpPr>
        <p:spPr>
          <a:xfrm>
            <a:off x="1802981" y="1659636"/>
            <a:ext cx="8582988" cy="4581144"/>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admin-dashboard-en.png" descr="admin-dashboard-en.png"/>
          <p:cNvPicPr>
            <a:picLocks noChangeAspect="1"/>
          </p:cNvPicPr>
          <p:nvPr/>
        </p:nvPicPr>
        <p:blipFill>
          <a:blip r:embed="rId3"/>
          <a:stretch>
            <a:fillRect/>
          </a:stretch>
        </p:blipFill>
        <p:spPr>
          <a:xfrm>
            <a:off x="1825841" y="1682496"/>
            <a:ext cx="8537268" cy="4535424"/>
          </a:xfrm>
          <a:prstGeom prst="rect">
            <a:avLst/>
          </a:prstGeom>
        </p:spPr>
      </p:pic>
      <p:sp>
        <p:nvSpPr>
          <p:cNvPr id="8" name="TextBox 7"/>
          <p:cNvSpPr txBox="1"/>
          <p:nvPr/>
        </p:nvSpPr>
        <p:spPr>
          <a:xfrm>
            <a:off x="594360" y="6254496"/>
            <a:ext cx="10927080" cy="219456"/>
          </a:xfrm>
          <a:prstGeom prst="rect">
            <a:avLst/>
          </a:prstGeom>
          <a:noFill/>
        </p:spPr>
        <p:txBody>
          <a:bodyPr wrap="square" lIns="0" rIns="0" tIns="0" bIns="0" anchor="t">
            <a:spAutoFit/>
          </a:bodyPr>
          <a:lstStyle/>
          <a:p>
            <a:pPr>
              <a:lnSpc>
                <a:spcPct val="112000"/>
              </a:lnSpc>
              <a:spcAft>
                <a:spcPts val="300"/>
              </a:spcAft>
              <a:defRPr sz="1300" b="0">
                <a:solidFill>
                  <a:srgbClr val="56697A"/>
                </a:solidFill>
                <a:latin typeface="Arial"/>
              </a:defRPr>
            </a:pPr>
            <a:r>
              <a:t>Traffic estimates, reader attribution, research activity and x402 testnet events in one 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CONTENT OPERATIONS</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Published content uses reviewed English editions</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11</a:t>
            </a:r>
          </a:p>
        </p:txBody>
      </p:sp>
      <p:sp>
        <p:nvSpPr>
          <p:cNvPr id="6" name="Rectangle 5"/>
          <p:cNvSpPr/>
          <p:nvPr/>
        </p:nvSpPr>
        <p:spPr>
          <a:xfrm>
            <a:off x="452628" y="1824228"/>
            <a:ext cx="6775703" cy="4251959"/>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admin-content-en.png" descr="admin-content-en.png"/>
          <p:cNvPicPr>
            <a:picLocks noChangeAspect="1"/>
          </p:cNvPicPr>
          <p:nvPr/>
        </p:nvPicPr>
        <p:blipFill>
          <a:blip r:embed="rId3"/>
          <a:stretch>
            <a:fillRect/>
          </a:stretch>
        </p:blipFill>
        <p:spPr>
          <a:xfrm>
            <a:off x="475488" y="1847088"/>
            <a:ext cx="6729983" cy="4206240"/>
          </a:xfrm>
          <a:prstGeom prst="rect">
            <a:avLst/>
          </a:prstGeom>
        </p:spPr>
      </p:pic>
      <p:sp>
        <p:nvSpPr>
          <p:cNvPr id="8" name="Rectangle 7"/>
          <p:cNvSpPr/>
          <p:nvPr/>
        </p:nvSpPr>
        <p:spPr>
          <a:xfrm>
            <a:off x="7520940" y="1972818"/>
            <a:ext cx="4215383" cy="3954779"/>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admin-article-en.png" descr="admin-article-en.png"/>
          <p:cNvPicPr>
            <a:picLocks noChangeAspect="1"/>
          </p:cNvPicPr>
          <p:nvPr/>
        </p:nvPicPr>
        <p:blipFill>
          <a:blip r:embed="rId4"/>
          <a:stretch>
            <a:fillRect/>
          </a:stretch>
        </p:blipFill>
        <p:spPr>
          <a:xfrm>
            <a:off x="7543800" y="1995678"/>
            <a:ext cx="4169663" cy="3909059"/>
          </a:xfrm>
          <a:prstGeom prst="rect">
            <a:avLst/>
          </a:prstGeom>
        </p:spPr>
      </p:pic>
      <p:sp>
        <p:nvSpPr>
          <p:cNvPr id="10" name="TextBox 9"/>
          <p:cNvSpPr txBox="1"/>
          <p:nvPr/>
        </p:nvSpPr>
        <p:spPr>
          <a:xfrm>
            <a:off x="502920" y="1472184"/>
            <a:ext cx="6583680" cy="256032"/>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PUBLISHED CATALOGUE</a:t>
            </a:r>
          </a:p>
        </p:txBody>
      </p:sp>
      <p:sp>
        <p:nvSpPr>
          <p:cNvPr id="11" name="TextBox 10"/>
          <p:cNvSpPr txBox="1"/>
          <p:nvPr/>
        </p:nvSpPr>
        <p:spPr>
          <a:xfrm>
            <a:off x="7571231" y="1472184"/>
            <a:ext cx="4023360" cy="256032"/>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REVIEWED ARTICLE DETAIL</a:t>
            </a:r>
          </a:p>
        </p:txBody>
      </p:sp>
      <p:sp>
        <p:nvSpPr>
          <p:cNvPr id="12" name="TextBox 11"/>
          <p:cNvSpPr txBox="1"/>
          <p:nvPr/>
        </p:nvSpPr>
        <p:spPr>
          <a:xfrm>
            <a:off x="502920" y="6181344"/>
            <a:ext cx="11064240" cy="265176"/>
          </a:xfrm>
          <a:prstGeom prst="rect">
            <a:avLst/>
          </a:prstGeom>
          <a:noFill/>
        </p:spPr>
        <p:txBody>
          <a:bodyPr wrap="square" lIns="0" rIns="0" tIns="0" bIns="0" anchor="t">
            <a:spAutoFit/>
          </a:bodyPr>
          <a:lstStyle/>
          <a:p>
            <a:pPr>
              <a:lnSpc>
                <a:spcPct val="112000"/>
              </a:lnSpc>
              <a:spcAft>
                <a:spcPts val="300"/>
              </a:spcAft>
              <a:defRPr sz="1400" b="0">
                <a:solidFill>
                  <a:srgbClr val="56697A"/>
                </a:solidFill>
                <a:latin typeface="Arial"/>
              </a:defRPr>
            </a:pPr>
            <a:r>
              <a:t>Original drafts and source evidence retain their original language and audit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RESEARCH OPERATIONS</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Sources and schedules remain inspectable</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12</a:t>
            </a:r>
          </a:p>
        </p:txBody>
      </p:sp>
      <p:sp>
        <p:nvSpPr>
          <p:cNvPr id="6" name="Rectangle 5"/>
          <p:cNvSpPr/>
          <p:nvPr/>
        </p:nvSpPr>
        <p:spPr>
          <a:xfrm>
            <a:off x="434340" y="1852231"/>
            <a:ext cx="5559552" cy="3491864"/>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admin-crawlers-en.png" descr="admin-crawlers-en.png"/>
          <p:cNvPicPr>
            <a:picLocks noChangeAspect="1"/>
          </p:cNvPicPr>
          <p:nvPr/>
        </p:nvPicPr>
        <p:blipFill>
          <a:blip r:embed="rId3"/>
          <a:stretch>
            <a:fillRect/>
          </a:stretch>
        </p:blipFill>
        <p:spPr>
          <a:xfrm>
            <a:off x="457200" y="1875091"/>
            <a:ext cx="5513832" cy="3446145"/>
          </a:xfrm>
          <a:prstGeom prst="rect">
            <a:avLst/>
          </a:prstGeom>
        </p:spPr>
      </p:pic>
      <p:sp>
        <p:nvSpPr>
          <p:cNvPr id="8" name="Rectangle 7"/>
          <p:cNvSpPr/>
          <p:nvPr/>
        </p:nvSpPr>
        <p:spPr>
          <a:xfrm>
            <a:off x="6195059" y="1852231"/>
            <a:ext cx="5559552" cy="3491864"/>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admin-sources-en.png" descr="admin-sources-en.png"/>
          <p:cNvPicPr>
            <a:picLocks noChangeAspect="1"/>
          </p:cNvPicPr>
          <p:nvPr/>
        </p:nvPicPr>
        <p:blipFill>
          <a:blip r:embed="rId4"/>
          <a:stretch>
            <a:fillRect/>
          </a:stretch>
        </p:blipFill>
        <p:spPr>
          <a:xfrm>
            <a:off x="6217920" y="1875091"/>
            <a:ext cx="5513832" cy="3446145"/>
          </a:xfrm>
          <a:prstGeom prst="rect">
            <a:avLst/>
          </a:prstGeom>
        </p:spPr>
      </p:pic>
      <p:sp>
        <p:nvSpPr>
          <p:cNvPr id="10" name="TextBox 9"/>
          <p:cNvSpPr txBox="1"/>
          <p:nvPr/>
        </p:nvSpPr>
        <p:spPr>
          <a:xfrm>
            <a:off x="530352" y="5596128"/>
            <a:ext cx="5330952" cy="59436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Crawler state, UTC schedules</a:t>
            </a:r>
          </a:p>
          <a:p>
            <a:pPr>
              <a:lnSpc>
                <a:spcPct val="112000"/>
              </a:lnSpc>
              <a:spcAft>
                <a:spcPts val="800"/>
              </a:spcAft>
              <a:defRPr sz="1900" b="0">
                <a:solidFill>
                  <a:srgbClr val="56697A"/>
                </a:solidFill>
                <a:latin typeface="Arial"/>
              </a:defRPr>
            </a:pPr>
            <a:r>
              <a:t>and recorded job outcomes.</a:t>
            </a:r>
          </a:p>
        </p:txBody>
      </p:sp>
      <p:sp>
        <p:nvSpPr>
          <p:cNvPr id="11" name="TextBox 10"/>
          <p:cNvSpPr txBox="1"/>
          <p:nvPr/>
        </p:nvSpPr>
        <p:spPr>
          <a:xfrm>
            <a:off x="6291072" y="5596128"/>
            <a:ext cx="5330952" cy="59436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Registered sources, assignments</a:t>
            </a:r>
          </a:p>
          <a:p>
            <a:pPr>
              <a:lnSpc>
                <a:spcPct val="112000"/>
              </a:lnSpc>
              <a:spcAft>
                <a:spcPts val="800"/>
              </a:spcAft>
              <a:defRPr sz="1900" b="0">
                <a:solidFill>
                  <a:srgbClr val="56697A"/>
                </a:solidFill>
                <a:latin typeface="Arial"/>
              </a:defRPr>
            </a:pPr>
            <a:r>
              <a:t>and connection-test workflows.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pic>
        <p:nvPicPr>
          <p:cNvPr id="2" name="x402-payment-flow.png" descr="x402-payment-flow.png"/>
          <p:cNvPicPr>
            <a:picLocks noChangeAspect="1"/>
          </p:cNvPicPr>
          <p:nvPr/>
        </p:nvPicPr>
        <p:blipFill>
          <a:blip r:embed="rId3"/>
          <a:stretch>
            <a:fillRect/>
          </a:stretch>
        </p:blipFill>
        <p:spPr>
          <a:xfrm>
            <a:off x="746759" y="18288"/>
            <a:ext cx="10698480" cy="6537960"/>
          </a:xfrm>
          <a:prstGeom prst="rect">
            <a:avLst/>
          </a:prstGeom>
        </p:spPr>
      </p:pic>
      <p:sp>
        <p:nvSpPr>
          <p:cNvPr id="3" name="TextBox 2"/>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4" name="TextBox 3"/>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ANALYTICS AND CONTROLS</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Measure observed behavior and expose limits</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14</a:t>
            </a:r>
          </a:p>
        </p:txBody>
      </p:sp>
      <p:sp>
        <p:nvSpPr>
          <p:cNvPr id="6" name="Rectangle 5"/>
          <p:cNvSpPr/>
          <p:nvPr/>
        </p:nvSpPr>
        <p:spPr>
          <a:xfrm>
            <a:off x="5463540" y="1836800"/>
            <a:ext cx="6281928" cy="3943350"/>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admin-settings-en.png" descr="admin-settings-en.png"/>
          <p:cNvPicPr>
            <a:picLocks noChangeAspect="1"/>
          </p:cNvPicPr>
          <p:nvPr/>
        </p:nvPicPr>
        <p:blipFill>
          <a:blip r:embed="rId3"/>
          <a:stretch>
            <a:fillRect/>
          </a:stretch>
        </p:blipFill>
        <p:spPr>
          <a:xfrm>
            <a:off x="5486400" y="1859660"/>
            <a:ext cx="6236208" cy="3897630"/>
          </a:xfrm>
          <a:prstGeom prst="rect">
            <a:avLst/>
          </a:prstGeom>
        </p:spPr>
      </p:pic>
      <p:sp>
        <p:nvSpPr>
          <p:cNvPr id="8" name="TextBox 7"/>
          <p:cNvSpPr txBox="1"/>
          <p:nvPr/>
        </p:nvSpPr>
        <p:spPr>
          <a:xfrm>
            <a:off x="502920" y="1856231"/>
            <a:ext cx="4617720" cy="640080"/>
          </a:xfrm>
          <a:prstGeom prst="rect">
            <a:avLst/>
          </a:prstGeom>
          <a:noFill/>
        </p:spPr>
        <p:txBody>
          <a:bodyPr wrap="square" lIns="0" rIns="0" tIns="0" bIns="0" anchor="t">
            <a:spAutoFit/>
          </a:bodyPr>
          <a:lstStyle/>
          <a:p>
            <a:pPr>
              <a:lnSpc>
                <a:spcPct val="112000"/>
              </a:lnSpc>
              <a:spcAft>
                <a:spcPts val="800"/>
              </a:spcAft>
              <a:defRPr sz="2500" b="1">
                <a:solidFill>
                  <a:srgbClr val="152A36"/>
                </a:solidFill>
                <a:latin typeface="Arial"/>
              </a:defRPr>
            </a:pPr>
            <a:r>
              <a:t>Two measurement sources</a:t>
            </a:r>
          </a:p>
        </p:txBody>
      </p:sp>
      <p:sp>
        <p:nvSpPr>
          <p:cNvPr id="9" name="TextBox 8"/>
          <p:cNvSpPr txBox="1"/>
          <p:nvPr/>
        </p:nvSpPr>
        <p:spPr>
          <a:xfrm>
            <a:off x="502920" y="2770632"/>
            <a:ext cx="4617720" cy="173736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Edge logs: requests and visitor estimates.</a:t>
            </a:r>
          </a:p>
          <a:p>
            <a:pPr>
              <a:lnSpc>
                <a:spcPct val="112000"/>
              </a:lnSpc>
              <a:spcAft>
                <a:spcPts val="800"/>
              </a:spcAft>
              <a:defRPr sz="1900" b="0">
                <a:solidFill>
                  <a:srgbClr val="56697A"/>
                </a:solidFill>
                <a:latin typeface="Arial"/>
              </a:defRPr>
            </a:pPr>
            <a:r>
              <a:t>Browser events: sessions, reading,</a:t>
            </a:r>
          </a:p>
          <a:p>
            <a:pPr>
              <a:lnSpc>
                <a:spcPct val="112000"/>
              </a:lnSpc>
              <a:spcAft>
                <a:spcPts val="800"/>
              </a:spcAft>
              <a:defRPr sz="1900" b="0">
                <a:solidFill>
                  <a:srgbClr val="56697A"/>
                </a:solidFill>
                <a:latin typeface="Arial"/>
              </a:defRPr>
            </a:pPr>
            <a:r>
              <a:t>return visits and referral channels.</a:t>
            </a:r>
          </a:p>
        </p:txBody>
      </p:sp>
      <p:sp>
        <p:nvSpPr>
          <p:cNvPr id="10" name="TextBox 9"/>
          <p:cNvSpPr txBox="1"/>
          <p:nvPr/>
        </p:nvSpPr>
        <p:spPr>
          <a:xfrm>
            <a:off x="502920" y="4791456"/>
            <a:ext cx="4663440" cy="1234440"/>
          </a:xfrm>
          <a:prstGeom prst="rect">
            <a:avLst/>
          </a:prstGeom>
          <a:noFill/>
        </p:spPr>
        <p:txBody>
          <a:bodyPr wrap="square" lIns="0" rIns="0" tIns="0" bIns="0" anchor="t">
            <a:spAutoFit/>
          </a:bodyPr>
          <a:lstStyle/>
          <a:p>
            <a:pPr>
              <a:lnSpc>
                <a:spcPct val="112000"/>
              </a:lnSpc>
              <a:spcAft>
                <a:spcPts val="800"/>
              </a:spcAft>
              <a:defRPr sz="1900" b="1">
                <a:solidFill>
                  <a:srgbClr val="0E9384"/>
                </a:solidFill>
                <a:latin typeface="Arial"/>
              </a:defRPr>
            </a:pPr>
            <a:r>
              <a:t>Exclude diagnostics from growth.</a:t>
            </a:r>
          </a:p>
          <a:p>
            <a:pPr>
              <a:lnSpc>
                <a:spcPct val="112000"/>
              </a:lnSpc>
              <a:spcAft>
                <a:spcPts val="800"/>
              </a:spcAft>
              <a:defRPr sz="1900" b="1">
                <a:solidFill>
                  <a:srgbClr val="0E9384"/>
                </a:solidFill>
                <a:latin typeface="Arial"/>
              </a:defRPr>
            </a:pPr>
            <a:r>
              <a:t>RSS clicks do not prove subscription.</a:t>
            </a:r>
          </a:p>
          <a:p>
            <a:pPr>
              <a:lnSpc>
                <a:spcPct val="112000"/>
              </a:lnSpc>
              <a:spcAft>
                <a:spcPts val="800"/>
              </a:spcAft>
              <a:defRPr sz="1900" b="1">
                <a:solidFill>
                  <a:srgbClr val="0E9384"/>
                </a:solidFill>
                <a:latin typeface="Arial"/>
              </a:defRPr>
            </a:pPr>
            <a:r>
              <a:t>Testnet payments are not revenue.</a:t>
            </a:r>
          </a:p>
        </p:txBody>
      </p:sp>
      <p:sp>
        <p:nvSpPr>
          <p:cNvPr id="11" name="TextBox 10"/>
          <p:cNvSpPr txBox="1"/>
          <p:nvPr/>
        </p:nvSpPr>
        <p:spPr>
          <a:xfrm>
            <a:off x="5577840" y="5897880"/>
            <a:ext cx="6035040" cy="384048"/>
          </a:xfrm>
          <a:prstGeom prst="rect">
            <a:avLst/>
          </a:prstGeom>
          <a:noFill/>
        </p:spPr>
        <p:txBody>
          <a:bodyPr wrap="square" lIns="0" rIns="0" tIns="0" bIns="0" anchor="t">
            <a:spAutoFit/>
          </a:bodyPr>
          <a:lstStyle/>
          <a:p>
            <a:pPr>
              <a:lnSpc>
                <a:spcPct val="112000"/>
              </a:lnSpc>
              <a:spcAft>
                <a:spcPts val="300"/>
              </a:spcAft>
              <a:defRPr sz="1500" b="0">
                <a:solidFill>
                  <a:srgbClr val="56697A"/>
                </a:solidFill>
                <a:latin typeface="Arial"/>
              </a:defRPr>
            </a:pPr>
            <a:r>
              <a:t>Preference-only controls are labeled in the actual UI.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CODE ORGANIZATION</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A small application with explicit boundaries</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15</a:t>
            </a:r>
          </a:p>
        </p:txBody>
      </p:sp>
      <p:sp>
        <p:nvSpPr>
          <p:cNvPr id="6" name="Rectangle 5"/>
          <p:cNvSpPr/>
          <p:nvPr/>
        </p:nvSpPr>
        <p:spPr>
          <a:xfrm>
            <a:off x="475488" y="1810512"/>
            <a:ext cx="11228832"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29384"/>
            <a:ext cx="4846320" cy="347472"/>
          </a:xfrm>
          <a:prstGeom prst="rect">
            <a:avLst/>
          </a:prstGeom>
          <a:noFill/>
        </p:spPr>
        <p:txBody>
          <a:bodyPr wrap="square" lIns="0" rIns="0" tIns="0" bIns="0" anchor="t">
            <a:spAutoFit/>
          </a:bodyPr>
          <a:lstStyle/>
          <a:p>
            <a:pPr>
              <a:lnSpc>
                <a:spcPct val="112000"/>
              </a:lnSpc>
              <a:spcAft>
                <a:spcPts val="300"/>
              </a:spcAft>
              <a:defRPr sz="1700" b="1">
                <a:solidFill>
                  <a:srgbClr val="0E9384"/>
                </a:solidFill>
                <a:latin typeface="Arial"/>
              </a:defRPr>
            </a:pPr>
            <a:r>
              <a:t>frontend/public + frontend/admin</a:t>
            </a:r>
          </a:p>
        </p:txBody>
      </p:sp>
      <p:sp>
        <p:nvSpPr>
          <p:cNvPr id="8" name="TextBox 7"/>
          <p:cNvSpPr txBox="1"/>
          <p:nvPr/>
        </p:nvSpPr>
        <p:spPr>
          <a:xfrm>
            <a:off x="5513832" y="1929384"/>
            <a:ext cx="5971032" cy="347472"/>
          </a:xfrm>
          <a:prstGeom prst="rect">
            <a:avLst/>
          </a:prstGeom>
          <a:noFill/>
        </p:spPr>
        <p:txBody>
          <a:bodyPr wrap="square" lIns="0" rIns="0" tIns="0" bIns="0" anchor="t">
            <a:spAutoFit/>
          </a:bodyPr>
          <a:lstStyle/>
          <a:p>
            <a:pPr>
              <a:lnSpc>
                <a:spcPct val="112000"/>
              </a:lnSpc>
              <a:spcAft>
                <a:spcPts val="300"/>
              </a:spcAft>
              <a:defRPr sz="1700" b="0">
                <a:solidFill>
                  <a:srgbClr val="152A36"/>
                </a:solidFill>
                <a:latin typeface="Arial"/>
              </a:defRPr>
            </a:pPr>
            <a:r>
              <a:t>Reader experience and operations console</a:t>
            </a:r>
          </a:p>
        </p:txBody>
      </p:sp>
      <p:sp>
        <p:nvSpPr>
          <p:cNvPr id="9" name="Rectangle 8"/>
          <p:cNvSpPr/>
          <p:nvPr/>
        </p:nvSpPr>
        <p:spPr>
          <a:xfrm>
            <a:off x="475488" y="2468880"/>
            <a:ext cx="11228832" cy="566928"/>
          </a:xfrm>
          <a:prstGeom prst="rect">
            <a:avLst/>
          </a:prstGeom>
          <a:solidFill>
            <a:srgbClr val="EA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587752"/>
            <a:ext cx="4846320" cy="347472"/>
          </a:xfrm>
          <a:prstGeom prst="rect">
            <a:avLst/>
          </a:prstGeom>
          <a:noFill/>
        </p:spPr>
        <p:txBody>
          <a:bodyPr wrap="square" lIns="0" rIns="0" tIns="0" bIns="0" anchor="t">
            <a:spAutoFit/>
          </a:bodyPr>
          <a:lstStyle/>
          <a:p>
            <a:pPr>
              <a:lnSpc>
                <a:spcPct val="112000"/>
              </a:lnSpc>
              <a:spcAft>
                <a:spcPts val="300"/>
              </a:spcAft>
              <a:defRPr sz="1700" b="1">
                <a:solidFill>
                  <a:srgbClr val="0E9384"/>
                </a:solidFill>
                <a:latin typeface="Arial"/>
              </a:defRPr>
            </a:pPr>
            <a:r>
              <a:t>backend</a:t>
            </a:r>
          </a:p>
        </p:txBody>
      </p:sp>
      <p:sp>
        <p:nvSpPr>
          <p:cNvPr id="11" name="TextBox 10"/>
          <p:cNvSpPr txBox="1"/>
          <p:nvPr/>
        </p:nvSpPr>
        <p:spPr>
          <a:xfrm>
            <a:off x="5513832" y="2587752"/>
            <a:ext cx="5971032" cy="347472"/>
          </a:xfrm>
          <a:prstGeom prst="rect">
            <a:avLst/>
          </a:prstGeom>
          <a:noFill/>
        </p:spPr>
        <p:txBody>
          <a:bodyPr wrap="square" lIns="0" rIns="0" tIns="0" bIns="0" anchor="t">
            <a:spAutoFit/>
          </a:bodyPr>
          <a:lstStyle/>
          <a:p>
            <a:pPr>
              <a:lnSpc>
                <a:spcPct val="112000"/>
              </a:lnSpc>
              <a:spcAft>
                <a:spcPts val="300"/>
              </a:spcAft>
              <a:defRPr sz="1700" b="0">
                <a:solidFill>
                  <a:srgbClr val="152A36"/>
                </a:solidFill>
                <a:latin typeface="Arial"/>
              </a:defRPr>
            </a:pPr>
            <a:r>
              <a:t>SSR, APIs, auth, locales, persistence and x402 seller</a:t>
            </a:r>
          </a:p>
        </p:txBody>
      </p:sp>
      <p:sp>
        <p:nvSpPr>
          <p:cNvPr id="12" name="Rectangle 11"/>
          <p:cNvSpPr/>
          <p:nvPr/>
        </p:nvSpPr>
        <p:spPr>
          <a:xfrm>
            <a:off x="475488" y="3127248"/>
            <a:ext cx="11228832"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3246120"/>
            <a:ext cx="4846320" cy="347472"/>
          </a:xfrm>
          <a:prstGeom prst="rect">
            <a:avLst/>
          </a:prstGeom>
          <a:noFill/>
        </p:spPr>
        <p:txBody>
          <a:bodyPr wrap="square" lIns="0" rIns="0" tIns="0" bIns="0" anchor="t">
            <a:spAutoFit/>
          </a:bodyPr>
          <a:lstStyle/>
          <a:p>
            <a:pPr>
              <a:lnSpc>
                <a:spcPct val="112000"/>
              </a:lnSpc>
              <a:spcAft>
                <a:spcPts val="300"/>
              </a:spcAft>
              <a:defRPr sz="1700" b="1">
                <a:solidFill>
                  <a:srgbClr val="0E9384"/>
                </a:solidFill>
                <a:latin typeface="Arial"/>
              </a:defRPr>
            </a:pPr>
            <a:r>
              <a:t>aws_runtime + agent_runtime</a:t>
            </a:r>
          </a:p>
        </p:txBody>
      </p:sp>
      <p:sp>
        <p:nvSpPr>
          <p:cNvPr id="14" name="TextBox 13"/>
          <p:cNvSpPr txBox="1"/>
          <p:nvPr/>
        </p:nvSpPr>
        <p:spPr>
          <a:xfrm>
            <a:off x="5513832" y="3246120"/>
            <a:ext cx="5971032" cy="347472"/>
          </a:xfrm>
          <a:prstGeom prst="rect">
            <a:avLst/>
          </a:prstGeom>
          <a:noFill/>
        </p:spPr>
        <p:txBody>
          <a:bodyPr wrap="square" lIns="0" rIns="0" tIns="0" bIns="0" anchor="t">
            <a:spAutoFit/>
          </a:bodyPr>
          <a:lstStyle/>
          <a:p>
            <a:pPr>
              <a:lnSpc>
                <a:spcPct val="112000"/>
              </a:lnSpc>
              <a:spcAft>
                <a:spcPts val="300"/>
              </a:spcAft>
              <a:defRPr sz="1700" b="0">
                <a:solidFill>
                  <a:srgbClr val="152A36"/>
                </a:solidFill>
                <a:latin typeface="Arial"/>
              </a:defRPr>
            </a:pPr>
            <a:r>
              <a:t>Research orchestration, tools and publication gates</a:t>
            </a:r>
          </a:p>
        </p:txBody>
      </p:sp>
      <p:sp>
        <p:nvSpPr>
          <p:cNvPr id="15" name="Rectangle 14"/>
          <p:cNvSpPr/>
          <p:nvPr/>
        </p:nvSpPr>
        <p:spPr>
          <a:xfrm>
            <a:off x="475488" y="3785616"/>
            <a:ext cx="11228832" cy="566928"/>
          </a:xfrm>
          <a:prstGeom prst="rect">
            <a:avLst/>
          </a:prstGeom>
          <a:solidFill>
            <a:srgbClr val="EA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904488"/>
            <a:ext cx="4846320" cy="347472"/>
          </a:xfrm>
          <a:prstGeom prst="rect">
            <a:avLst/>
          </a:prstGeom>
          <a:noFill/>
        </p:spPr>
        <p:txBody>
          <a:bodyPr wrap="square" lIns="0" rIns="0" tIns="0" bIns="0" anchor="t">
            <a:spAutoFit/>
          </a:bodyPr>
          <a:lstStyle/>
          <a:p>
            <a:pPr>
              <a:lnSpc>
                <a:spcPct val="112000"/>
              </a:lnSpc>
              <a:spcAft>
                <a:spcPts val="300"/>
              </a:spcAft>
              <a:defRPr sz="1700" b="1">
                <a:solidFill>
                  <a:srgbClr val="0E9384"/>
                </a:solidFill>
                <a:latin typeface="Arial"/>
              </a:defRPr>
            </a:pPr>
            <a:r>
              <a:t>aws_scheduler + aws_indexing_notifier</a:t>
            </a:r>
          </a:p>
        </p:txBody>
      </p:sp>
      <p:sp>
        <p:nvSpPr>
          <p:cNvPr id="17" name="TextBox 16"/>
          <p:cNvSpPr txBox="1"/>
          <p:nvPr/>
        </p:nvSpPr>
        <p:spPr>
          <a:xfrm>
            <a:off x="5513832" y="3904488"/>
            <a:ext cx="5971032" cy="347472"/>
          </a:xfrm>
          <a:prstGeom prst="rect">
            <a:avLst/>
          </a:prstGeom>
          <a:noFill/>
        </p:spPr>
        <p:txBody>
          <a:bodyPr wrap="square" lIns="0" rIns="0" tIns="0" bIns="0" anchor="t">
            <a:spAutoFit/>
          </a:bodyPr>
          <a:lstStyle/>
          <a:p>
            <a:pPr>
              <a:lnSpc>
                <a:spcPct val="112000"/>
              </a:lnSpc>
              <a:spcAft>
                <a:spcPts val="300"/>
              </a:spcAft>
              <a:defRPr sz="1700" b="0">
                <a:solidFill>
                  <a:srgbClr val="152A36"/>
                </a:solidFill>
                <a:latin typeface="Arial"/>
              </a:defRPr>
            </a:pPr>
            <a:r>
              <a:t>Asynchronous invocation and discovery notifications</a:t>
            </a:r>
          </a:p>
        </p:txBody>
      </p:sp>
      <p:sp>
        <p:nvSpPr>
          <p:cNvPr id="18" name="Rectangle 17"/>
          <p:cNvSpPr/>
          <p:nvPr/>
        </p:nvSpPr>
        <p:spPr>
          <a:xfrm>
            <a:off x="475488" y="4443983"/>
            <a:ext cx="11228832"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562855"/>
            <a:ext cx="4846320" cy="347472"/>
          </a:xfrm>
          <a:prstGeom prst="rect">
            <a:avLst/>
          </a:prstGeom>
          <a:noFill/>
        </p:spPr>
        <p:txBody>
          <a:bodyPr wrap="square" lIns="0" rIns="0" tIns="0" bIns="0" anchor="t">
            <a:spAutoFit/>
          </a:bodyPr>
          <a:lstStyle/>
          <a:p>
            <a:pPr>
              <a:lnSpc>
                <a:spcPct val="112000"/>
              </a:lnSpc>
              <a:spcAft>
                <a:spcPts val="300"/>
              </a:spcAft>
              <a:defRPr sz="1700" b="1">
                <a:solidFill>
                  <a:srgbClr val="0E9384"/>
                </a:solidFill>
                <a:latin typeface="Arial"/>
              </a:defRPr>
            </a:pPr>
            <a:r>
              <a:t>aws_traffic_aggregator</a:t>
            </a:r>
          </a:p>
        </p:txBody>
      </p:sp>
      <p:sp>
        <p:nvSpPr>
          <p:cNvPr id="20" name="TextBox 19"/>
          <p:cNvSpPr txBox="1"/>
          <p:nvPr/>
        </p:nvSpPr>
        <p:spPr>
          <a:xfrm>
            <a:off x="5513832" y="4562855"/>
            <a:ext cx="5971032" cy="347472"/>
          </a:xfrm>
          <a:prstGeom prst="rect">
            <a:avLst/>
          </a:prstGeom>
          <a:noFill/>
        </p:spPr>
        <p:txBody>
          <a:bodyPr wrap="square" lIns="0" rIns="0" tIns="0" bIns="0" anchor="t">
            <a:spAutoFit/>
          </a:bodyPr>
          <a:lstStyle/>
          <a:p>
            <a:pPr>
              <a:lnSpc>
                <a:spcPct val="112000"/>
              </a:lnSpc>
              <a:spcAft>
                <a:spcPts val="300"/>
              </a:spcAft>
              <a:defRPr sz="1700" b="0">
                <a:solidFill>
                  <a:srgbClr val="152A36"/>
                </a:solidFill>
                <a:latin typeface="Arial"/>
              </a:defRPr>
            </a:pPr>
            <a:r>
              <a:t>Edge-log classification and hourly aggregates</a:t>
            </a:r>
          </a:p>
        </p:txBody>
      </p:sp>
      <p:sp>
        <p:nvSpPr>
          <p:cNvPr id="21" name="Rectangle 20"/>
          <p:cNvSpPr/>
          <p:nvPr/>
        </p:nvSpPr>
        <p:spPr>
          <a:xfrm>
            <a:off x="475488" y="5102352"/>
            <a:ext cx="11228832" cy="566928"/>
          </a:xfrm>
          <a:prstGeom prst="rect">
            <a:avLst/>
          </a:prstGeom>
          <a:solidFill>
            <a:srgbClr val="EA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221224"/>
            <a:ext cx="4846320" cy="347472"/>
          </a:xfrm>
          <a:prstGeom prst="rect">
            <a:avLst/>
          </a:prstGeom>
          <a:noFill/>
        </p:spPr>
        <p:txBody>
          <a:bodyPr wrap="square" lIns="0" rIns="0" tIns="0" bIns="0" anchor="t">
            <a:spAutoFit/>
          </a:bodyPr>
          <a:lstStyle/>
          <a:p>
            <a:pPr>
              <a:lnSpc>
                <a:spcPct val="112000"/>
              </a:lnSpc>
              <a:spcAft>
                <a:spcPts val="300"/>
              </a:spcAft>
              <a:defRPr sz="1700" b="1">
                <a:solidFill>
                  <a:srgbClr val="0E9384"/>
                </a:solidFill>
                <a:latin typeface="Arial"/>
              </a:defRPr>
            </a:pPr>
            <a:r>
              <a:t>scripts + infrastructure/aws</a:t>
            </a:r>
          </a:p>
        </p:txBody>
      </p:sp>
      <p:sp>
        <p:nvSpPr>
          <p:cNvPr id="23" name="TextBox 22"/>
          <p:cNvSpPr txBox="1"/>
          <p:nvPr/>
        </p:nvSpPr>
        <p:spPr>
          <a:xfrm>
            <a:off x="5513832" y="5221224"/>
            <a:ext cx="5971032" cy="347472"/>
          </a:xfrm>
          <a:prstGeom prst="rect">
            <a:avLst/>
          </a:prstGeom>
          <a:noFill/>
        </p:spPr>
        <p:txBody>
          <a:bodyPr wrap="square" lIns="0" rIns="0" tIns="0" bIns="0" anchor="t">
            <a:spAutoFit/>
          </a:bodyPr>
          <a:lstStyle/>
          <a:p>
            <a:pPr>
              <a:lnSpc>
                <a:spcPct val="112000"/>
              </a:lnSpc>
              <a:spcAft>
                <a:spcPts val="300"/>
              </a:spcAft>
              <a:defRPr sz="1700" b="0">
                <a:solidFill>
                  <a:srgbClr val="152A36"/>
                </a:solidFill>
                <a:latin typeface="Arial"/>
              </a:defRPr>
            </a:pPr>
            <a:r>
              <a:t>Release workflows, tests, maintenance and IAM examples</a:t>
            </a:r>
          </a:p>
        </p:txBody>
      </p:sp>
      <p:sp>
        <p:nvSpPr>
          <p:cNvPr id="24" name="TextBox 23"/>
          <p:cNvSpPr txBox="1"/>
          <p:nvPr/>
        </p:nvSpPr>
        <p:spPr>
          <a:xfrm>
            <a:off x="521207" y="6007608"/>
            <a:ext cx="10972800" cy="365760"/>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Large Data API responses use bounded reads; review history and evidence remain intact.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INSTALL</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Run the application locally</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16</a:t>
            </a:r>
          </a:p>
        </p:txBody>
      </p:sp>
      <p:sp>
        <p:nvSpPr>
          <p:cNvPr id="6" name="TextBox 5"/>
          <p:cNvSpPr txBox="1"/>
          <p:nvPr/>
        </p:nvSpPr>
        <p:spPr>
          <a:xfrm>
            <a:off x="502920" y="1792224"/>
            <a:ext cx="6629400" cy="59436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Python 3.10+  •  Docker Compose</a:t>
            </a:r>
          </a:p>
        </p:txBody>
      </p:sp>
      <p:sp>
        <p:nvSpPr>
          <p:cNvPr id="7" name="Rounded Rectangle 6"/>
          <p:cNvSpPr/>
          <p:nvPr/>
        </p:nvSpPr>
        <p:spPr>
          <a:xfrm>
            <a:off x="475488" y="2551176"/>
            <a:ext cx="6739128" cy="1261872"/>
          </a:xfrm>
          <a:prstGeom prst="roundRect">
            <a:avLst>
              <a:gd name="adj" fmla="val 6000"/>
            </a:avLst>
          </a:prstGeom>
          <a:solidFill>
            <a:srgbClr val="122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752344"/>
            <a:ext cx="6309360" cy="987552"/>
          </a:xfrm>
          <a:prstGeom prst="rect">
            <a:avLst/>
          </a:prstGeom>
          <a:noFill/>
        </p:spPr>
        <p:txBody>
          <a:bodyPr wrap="square" lIns="0" rIns="0" tIns="0" bIns="0" anchor="t">
            <a:spAutoFit/>
          </a:bodyPr>
          <a:lstStyle/>
          <a:p>
            <a:pPr>
              <a:lnSpc>
                <a:spcPct val="112000"/>
              </a:lnSpc>
              <a:spcAft>
                <a:spcPts val="300"/>
              </a:spcAft>
              <a:defRPr sz="1600" b="0">
                <a:solidFill>
                  <a:srgbClr val="E1F7F1"/>
                </a:solidFill>
                <a:latin typeface="Liberation Mono"/>
              </a:defRPr>
            </a:pPr>
            <a:r>
              <a:t>git clone https://github.com/milan9527/geo.git</a:t>
            </a:r>
          </a:p>
          <a:p>
            <a:pPr>
              <a:lnSpc>
                <a:spcPct val="112000"/>
              </a:lnSpc>
              <a:spcAft>
                <a:spcPts val="300"/>
              </a:spcAft>
              <a:defRPr sz="1600" b="0">
                <a:solidFill>
                  <a:srgbClr val="E1F7F1"/>
                </a:solidFill>
                <a:latin typeface="Liberation Mono"/>
              </a:defRPr>
            </a:pPr>
            <a:r>
              <a:t>cd geo</a:t>
            </a:r>
          </a:p>
          <a:p>
            <a:pPr>
              <a:lnSpc>
                <a:spcPct val="112000"/>
              </a:lnSpc>
              <a:spcAft>
                <a:spcPts val="300"/>
              </a:spcAft>
              <a:defRPr sz="1600" b="0">
                <a:solidFill>
                  <a:srgbClr val="E1F7F1"/>
                </a:solidFill>
                <a:latin typeface="Liberation Mono"/>
              </a:defRPr>
            </a:pPr>
            <a:r>
              <a:t>./scripts/start.sh</a:t>
            </a:r>
          </a:p>
        </p:txBody>
      </p:sp>
      <p:sp>
        <p:nvSpPr>
          <p:cNvPr id="9" name="TextBox 8"/>
          <p:cNvSpPr txBox="1"/>
          <p:nvPr/>
        </p:nvSpPr>
        <p:spPr>
          <a:xfrm>
            <a:off x="502920" y="4105656"/>
            <a:ext cx="6519672" cy="1060704"/>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Public :4173  /  Admin :4174  /  API :8000</a:t>
            </a:r>
          </a:p>
          <a:p>
            <a:pPr>
              <a:lnSpc>
                <a:spcPct val="112000"/>
              </a:lnSpc>
              <a:spcAft>
                <a:spcPts val="800"/>
              </a:spcAft>
              <a:defRPr sz="1900" b="0">
                <a:solidFill>
                  <a:srgbClr val="56697A"/>
                </a:solidFill>
                <a:latin typeface="Arial"/>
              </a:defRPr>
            </a:pPr>
            <a:r>
              <a:t>Create an admin with scripts/create_admin_user.py.</a:t>
            </a:r>
          </a:p>
          <a:p>
            <a:pPr>
              <a:lnSpc>
                <a:spcPct val="112000"/>
              </a:lnSpc>
              <a:spcAft>
                <a:spcPts val="800"/>
              </a:spcAft>
              <a:defRPr sz="1900" b="0">
                <a:solidFill>
                  <a:srgbClr val="56697A"/>
                </a:solidFill>
                <a:latin typeface="Arial"/>
              </a:defRPr>
            </a:pPr>
            <a:r>
              <a:t>The command prompts for a password.</a:t>
            </a:r>
          </a:p>
        </p:txBody>
      </p:sp>
      <p:sp>
        <p:nvSpPr>
          <p:cNvPr id="10" name="TextBox 9"/>
          <p:cNvSpPr txBox="1"/>
          <p:nvPr/>
        </p:nvSpPr>
        <p:spPr>
          <a:xfrm>
            <a:off x="502920" y="5586984"/>
            <a:ext cx="6400800" cy="585216"/>
          </a:xfrm>
          <a:prstGeom prst="rect">
            <a:avLst/>
          </a:prstGeom>
          <a:noFill/>
        </p:spPr>
        <p:txBody>
          <a:bodyPr wrap="square" lIns="0" rIns="0" tIns="0" bIns="0" anchor="t">
            <a:spAutoFit/>
          </a:bodyPr>
          <a:lstStyle/>
          <a:p>
            <a:pPr>
              <a:lnSpc>
                <a:spcPct val="112000"/>
              </a:lnSpc>
              <a:spcAft>
                <a:spcPts val="300"/>
              </a:spcAft>
              <a:defRPr sz="1600" b="1">
                <a:solidFill>
                  <a:srgbClr val="0E9384"/>
                </a:solidFill>
                <a:latin typeface="Arial"/>
              </a:defRPr>
            </a:pPr>
            <a:r>
              <a:t>Node.js 24+ is needed for the crawler worker build.</a:t>
            </a:r>
          </a:p>
          <a:p>
            <a:pPr>
              <a:lnSpc>
                <a:spcPct val="112000"/>
              </a:lnSpc>
              <a:spcAft>
                <a:spcPts val="300"/>
              </a:spcAft>
              <a:defRPr sz="1600" b="1">
                <a:solidFill>
                  <a:srgbClr val="0E9384"/>
                </a:solidFill>
                <a:latin typeface="Arial"/>
              </a:defRPr>
            </a:pPr>
            <a:r>
              <a:t>See docs/deployment.md for configuration.</a:t>
            </a:r>
          </a:p>
        </p:txBody>
      </p:sp>
      <p:sp>
        <p:nvSpPr>
          <p:cNvPr id="11" name="Rectangle 10"/>
          <p:cNvSpPr/>
          <p:nvPr/>
        </p:nvSpPr>
        <p:spPr>
          <a:xfrm>
            <a:off x="7530083" y="2544889"/>
            <a:ext cx="4206240" cy="2646045"/>
          </a:xfrm>
          <a:prstGeom prst="rect">
            <a:avLst/>
          </a:prstGeom>
          <a:solidFill>
            <a:srgbClr val="FFFFFF"/>
          </a:solidFill>
          <a:ln w="7620">
            <a:solidFill>
              <a:srgbClr val="D9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admin-login-en.png" descr="admin-login-en.png"/>
          <p:cNvPicPr>
            <a:picLocks noChangeAspect="1"/>
          </p:cNvPicPr>
          <p:nvPr/>
        </p:nvPicPr>
        <p:blipFill>
          <a:blip r:embed="rId3"/>
          <a:stretch>
            <a:fillRect/>
          </a:stretch>
        </p:blipFill>
        <p:spPr>
          <a:xfrm>
            <a:off x="7552944" y="2567749"/>
            <a:ext cx="4160520" cy="2600325"/>
          </a:xfrm>
          <a:prstGeom prst="rect">
            <a:avLst/>
          </a:prstGeom>
        </p:spPr>
      </p:pic>
      <p:sp>
        <p:nvSpPr>
          <p:cNvPr id="13" name="TextBox 12"/>
          <p:cNvSpPr txBox="1"/>
          <p:nvPr/>
        </p:nvSpPr>
        <p:spPr>
          <a:xfrm>
            <a:off x="7616952" y="5632704"/>
            <a:ext cx="3986784" cy="320040"/>
          </a:xfrm>
          <a:prstGeom prst="rect">
            <a:avLst/>
          </a:prstGeom>
          <a:noFill/>
        </p:spPr>
        <p:txBody>
          <a:bodyPr wrap="square" lIns="0" rIns="0" tIns="0" bIns="0" anchor="t">
            <a:spAutoFit/>
          </a:bodyPr>
          <a:lstStyle/>
          <a:p>
            <a:pPr>
              <a:lnSpc>
                <a:spcPct val="112000"/>
              </a:lnSpc>
              <a:spcAft>
                <a:spcPts val="300"/>
              </a:spcAft>
              <a:defRPr sz="1200" b="0">
                <a:solidFill>
                  <a:srgbClr val="56697A"/>
                </a:solidFill>
                <a:latin typeface="Arial"/>
              </a:defRPr>
            </a:pPr>
            <a:r>
              <a:t>Actual English production login screen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2330"/>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67DCCC"/>
                </a:solidFill>
                <a:latin typeface="Arial"/>
              </a:defRPr>
            </a:pPr>
            <a:r>
              <a:t>DEPLOY</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FFFFFF"/>
                </a:solidFill>
                <a:latin typeface="Arial"/>
              </a:defRPr>
            </a:pPr>
            <a:r>
              <a:t>Release into an existing AWS environment</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9CADB8"/>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67DCCC"/>
                </a:solidFill>
                <a:latin typeface="Arial"/>
              </a:defRPr>
            </a:pPr>
            <a:r>
              <a:t>17</a:t>
            </a:r>
          </a:p>
        </p:txBody>
      </p:sp>
      <p:sp>
        <p:nvSpPr>
          <p:cNvPr id="6" name="TextBox 5"/>
          <p:cNvSpPr txBox="1"/>
          <p:nvPr/>
        </p:nvSpPr>
        <p:spPr>
          <a:xfrm>
            <a:off x="502920" y="1773936"/>
            <a:ext cx="10927080" cy="932688"/>
          </a:xfrm>
          <a:prstGeom prst="rect">
            <a:avLst/>
          </a:prstGeom>
          <a:noFill/>
        </p:spPr>
        <p:txBody>
          <a:bodyPr wrap="square" lIns="0" rIns="0" tIns="0" bIns="0" anchor="t">
            <a:spAutoFit/>
          </a:bodyPr>
          <a:lstStyle/>
          <a:p>
            <a:pPr>
              <a:lnSpc>
                <a:spcPct val="112000"/>
              </a:lnSpc>
              <a:spcAft>
                <a:spcPts val="800"/>
              </a:spcAft>
              <a:defRPr sz="2200" b="0">
                <a:solidFill>
                  <a:srgbClr val="D5E3E9"/>
                </a:solidFill>
                <a:latin typeface="Arial"/>
              </a:defRPr>
            </a:pPr>
            <a:r>
              <a:t>Export .env.aws and .env.deploy.aws with your resource settings.</a:t>
            </a:r>
          </a:p>
          <a:p>
            <a:pPr>
              <a:lnSpc>
                <a:spcPct val="112000"/>
              </a:lnSpc>
              <a:spcAft>
                <a:spcPts val="800"/>
              </a:spcAft>
              <a:defRPr sz="2200" b="0">
                <a:solidFill>
                  <a:srgbClr val="D5E3E9"/>
                </a:solidFill>
                <a:latin typeface="Arial"/>
              </a:defRPr>
            </a:pPr>
            <a:r>
              <a:t>Provision the required AWS services before running release scripts.</a:t>
            </a:r>
          </a:p>
        </p:txBody>
      </p:sp>
      <p:sp>
        <p:nvSpPr>
          <p:cNvPr id="7" name="Rounded Rectangle 6"/>
          <p:cNvSpPr/>
          <p:nvPr/>
        </p:nvSpPr>
        <p:spPr>
          <a:xfrm>
            <a:off x="493776" y="2953512"/>
            <a:ext cx="11183112" cy="1691640"/>
          </a:xfrm>
          <a:prstGeom prst="roundRect">
            <a:avLst>
              <a:gd name="adj" fmla="val 6000"/>
            </a:avLst>
          </a:prstGeom>
          <a:solidFill>
            <a:srgbClr val="1B3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3182112"/>
            <a:ext cx="10561320" cy="1298448"/>
          </a:xfrm>
          <a:prstGeom prst="rect">
            <a:avLst/>
          </a:prstGeom>
          <a:noFill/>
        </p:spPr>
        <p:txBody>
          <a:bodyPr wrap="square" lIns="0" rIns="0" tIns="0" bIns="0" anchor="t">
            <a:spAutoFit/>
          </a:bodyPr>
          <a:lstStyle/>
          <a:p>
            <a:pPr>
              <a:lnSpc>
                <a:spcPct val="112000"/>
              </a:lnSpc>
              <a:spcAft>
                <a:spcPts val="800"/>
              </a:spcAft>
              <a:defRPr sz="2200" b="0">
                <a:solidFill>
                  <a:srgbClr val="67DCCC"/>
                </a:solidFill>
                <a:latin typeface="Liberation Mono"/>
              </a:defRPr>
            </a:pPr>
            <a:r>
              <a:t>./scripts/deploy_web_ecs.sh</a:t>
            </a:r>
          </a:p>
          <a:p>
            <a:pPr>
              <a:lnSpc>
                <a:spcPct val="112000"/>
              </a:lnSpc>
              <a:spcAft>
                <a:spcPts val="800"/>
              </a:spcAft>
              <a:defRPr sz="2200" b="0">
                <a:solidFill>
                  <a:srgbClr val="67DCCC"/>
                </a:solidFill>
                <a:latin typeface="Liberation Mono"/>
              </a:defRPr>
            </a:pPr>
            <a:r>
              <a:t>./scripts/deploy_agent_runtime.sh --auto-publish</a:t>
            </a:r>
          </a:p>
          <a:p>
            <a:pPr>
              <a:lnSpc>
                <a:spcPct val="112000"/>
              </a:lnSpc>
              <a:spcAft>
                <a:spcPts val="800"/>
              </a:spcAft>
              <a:defRPr sz="2200" b="0">
                <a:solidFill>
                  <a:srgbClr val="67DCCC"/>
                </a:solidFill>
                <a:latin typeface="Liberation Mono"/>
              </a:defRPr>
            </a:pPr>
            <a:r>
              <a:t>./scripts/deploy_scheduler_bridge.sh</a:t>
            </a:r>
          </a:p>
        </p:txBody>
      </p:sp>
      <p:sp>
        <p:nvSpPr>
          <p:cNvPr id="9" name="TextBox 8"/>
          <p:cNvSpPr txBox="1"/>
          <p:nvPr/>
        </p:nvSpPr>
        <p:spPr>
          <a:xfrm>
            <a:off x="502920" y="5001768"/>
            <a:ext cx="11082528" cy="1234440"/>
          </a:xfrm>
          <a:prstGeom prst="rect">
            <a:avLst/>
          </a:prstGeom>
          <a:noFill/>
        </p:spPr>
        <p:txBody>
          <a:bodyPr wrap="square" lIns="0" rIns="0" tIns="0" bIns="0" anchor="t">
            <a:spAutoFit/>
          </a:bodyPr>
          <a:lstStyle/>
          <a:p>
            <a:pPr>
              <a:lnSpc>
                <a:spcPct val="112000"/>
              </a:lnSpc>
              <a:spcAft>
                <a:spcPts val="800"/>
              </a:spcAft>
              <a:defRPr sz="2100" b="0">
                <a:solidFill>
                  <a:srgbClr val="FFFFFF"/>
                </a:solidFill>
                <a:latin typeface="Arial"/>
              </a:defRPr>
            </a:pPr>
            <a:r>
              <a:t>Build and scan images → update services → upload assets → invalidate caches.</a:t>
            </a:r>
          </a:p>
          <a:p>
            <a:pPr>
              <a:lnSpc>
                <a:spcPct val="112000"/>
              </a:lnSpc>
              <a:spcAft>
                <a:spcPts val="800"/>
              </a:spcAft>
              <a:defRPr sz="2100" b="0">
                <a:solidFill>
                  <a:srgbClr val="FFFFFF"/>
                </a:solidFill>
                <a:latin typeface="Arial"/>
              </a:defRPr>
            </a:pPr>
            <a:r>
              <a:t>Wait for deployment and cache completion, then verify live bilingual routes.</a:t>
            </a:r>
          </a:p>
          <a:p>
            <a:pPr>
              <a:lnSpc>
                <a:spcPct val="112000"/>
              </a:lnSpc>
              <a:spcAft>
                <a:spcPts val="800"/>
              </a:spcAft>
              <a:defRPr sz="2100" b="0">
                <a:solidFill>
                  <a:srgbClr val="FFFFFF"/>
                </a:solidFill>
                <a:latin typeface="Arial"/>
              </a:defRPr>
            </a:pPr>
            <a:r>
              <a:t>Keep isolated tests separate from the production database.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457200" y="274320"/>
            <a:ext cx="10881360" cy="274320"/>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VERIFICATION</a:t>
            </a:r>
          </a:p>
        </p:txBody>
      </p:sp>
      <p:sp>
        <p:nvSpPr>
          <p:cNvPr id="3" name="TextBox 2"/>
          <p:cNvSpPr txBox="1"/>
          <p:nvPr/>
        </p:nvSpPr>
        <p:spPr>
          <a:xfrm>
            <a:off x="457200" y="758952"/>
            <a:ext cx="11247120" cy="731520"/>
          </a:xfrm>
          <a:prstGeom prst="rect">
            <a:avLst/>
          </a:prstGeom>
          <a:noFill/>
        </p:spPr>
        <p:txBody>
          <a:bodyPr wrap="square" lIns="0" rIns="0" tIns="0" bIns="0" anchor="t">
            <a:spAutoFit/>
          </a:bodyPr>
          <a:lstStyle/>
          <a:p>
            <a:pPr>
              <a:lnSpc>
                <a:spcPct val="112000"/>
              </a:lnSpc>
              <a:spcAft>
                <a:spcPts val="800"/>
              </a:spcAft>
              <a:defRPr sz="3200" b="1">
                <a:solidFill>
                  <a:srgbClr val="152A36"/>
                </a:solidFill>
                <a:latin typeface="Arial"/>
              </a:defRPr>
            </a:pPr>
            <a:r>
              <a:t>Verified behavior, with evidence you can inspect</a:t>
            </a:r>
          </a:p>
        </p:txBody>
      </p:sp>
      <p:sp>
        <p:nvSpPr>
          <p:cNvPr id="4" name="TextBox 3"/>
          <p:cNvSpPr txBox="1"/>
          <p:nvPr/>
        </p:nvSpPr>
        <p:spPr>
          <a:xfrm>
            <a:off x="457200" y="6510528"/>
            <a:ext cx="9144000" cy="182880"/>
          </a:xfrm>
          <a:prstGeom prst="rect">
            <a:avLst/>
          </a:prstGeom>
          <a:noFill/>
        </p:spPr>
        <p:txBody>
          <a:bodyPr wrap="square" lIns="0" rIns="0" tIns="0" bIns="0" anchor="t">
            <a:spAutoFit/>
          </a:bodyPr>
          <a:lstStyle/>
          <a:p>
            <a:pPr>
              <a:lnSpc>
                <a:spcPct val="112000"/>
              </a:lnSpc>
              <a:spcAft>
                <a:spcPts val="300"/>
              </a:spcAft>
              <a:defRPr sz="900" b="0">
                <a:solidFill>
                  <a:srgbClr val="56697A"/>
                </a:solidFill>
                <a:latin typeface="Arial"/>
              </a:defRPr>
            </a:pPr>
            <a:r>
              <a:t>APERTURE INTELLIGENCE  /  ENGLISH EDITION  /  25 SEP 2026</a:t>
            </a:r>
          </a:p>
        </p:txBody>
      </p:sp>
      <p:sp>
        <p:nvSpPr>
          <p:cNvPr id="5" name="TextBox 4"/>
          <p:cNvSpPr txBox="1"/>
          <p:nvPr/>
        </p:nvSpPr>
        <p:spPr>
          <a:xfrm>
            <a:off x="11064240" y="6473952"/>
            <a:ext cx="640080" cy="246888"/>
          </a:xfrm>
          <a:prstGeom prst="rect">
            <a:avLst/>
          </a:prstGeom>
          <a:noFill/>
        </p:spPr>
        <p:txBody>
          <a:bodyPr wrap="square" lIns="0" rIns="0" tIns="0" bIns="0" anchor="t">
            <a:spAutoFit/>
          </a:bodyPr>
          <a:lstStyle/>
          <a:p>
            <a:pPr>
              <a:lnSpc>
                <a:spcPct val="112000"/>
              </a:lnSpc>
              <a:spcAft>
                <a:spcPts val="300"/>
              </a:spcAft>
              <a:defRPr sz="1100" b="1">
                <a:solidFill>
                  <a:srgbClr val="0E9384"/>
                </a:solidFill>
                <a:latin typeface="Arial"/>
              </a:defRPr>
            </a:pPr>
            <a:r>
              <a:t>18</a:t>
            </a:r>
          </a:p>
        </p:txBody>
      </p:sp>
      <p:sp>
        <p:nvSpPr>
          <p:cNvPr id="6" name="TextBox 5"/>
          <p:cNvSpPr txBox="1"/>
          <p:nvPr/>
        </p:nvSpPr>
        <p:spPr>
          <a:xfrm>
            <a:off x="502920" y="1828800"/>
            <a:ext cx="3429000" cy="822960"/>
          </a:xfrm>
          <a:prstGeom prst="rect">
            <a:avLst/>
          </a:prstGeom>
          <a:noFill/>
        </p:spPr>
        <p:txBody>
          <a:bodyPr wrap="square" lIns="0" rIns="0" tIns="0" bIns="0" anchor="t">
            <a:spAutoFit/>
          </a:bodyPr>
          <a:lstStyle/>
          <a:p>
            <a:pPr>
              <a:lnSpc>
                <a:spcPct val="112000"/>
              </a:lnSpc>
              <a:spcAft>
                <a:spcPts val="800"/>
              </a:spcAft>
              <a:defRPr sz="4900" b="1">
                <a:solidFill>
                  <a:srgbClr val="0E9384"/>
                </a:solidFill>
                <a:latin typeface="Arial"/>
              </a:defRPr>
            </a:pPr>
            <a:r>
              <a:t>106</a:t>
            </a:r>
          </a:p>
        </p:txBody>
      </p:sp>
      <p:sp>
        <p:nvSpPr>
          <p:cNvPr id="7" name="TextBox 6"/>
          <p:cNvSpPr txBox="1"/>
          <p:nvPr/>
        </p:nvSpPr>
        <p:spPr>
          <a:xfrm>
            <a:off x="502920" y="2788920"/>
            <a:ext cx="3429000" cy="502920"/>
          </a:xfrm>
          <a:prstGeom prst="rect">
            <a:avLst/>
          </a:prstGeom>
          <a:noFill/>
        </p:spPr>
        <p:txBody>
          <a:bodyPr wrap="square" lIns="0" rIns="0" tIns="0" bIns="0" anchor="t">
            <a:spAutoFit/>
          </a:bodyPr>
          <a:lstStyle/>
          <a:p>
            <a:pPr>
              <a:lnSpc>
                <a:spcPct val="112000"/>
              </a:lnSpc>
              <a:spcAft>
                <a:spcPts val="800"/>
              </a:spcAft>
              <a:defRPr sz="1800" b="0">
                <a:solidFill>
                  <a:srgbClr val="56697A"/>
                </a:solidFill>
                <a:latin typeface="Arial"/>
              </a:defRPr>
            </a:pPr>
            <a:r>
              <a:t>automated tests passed</a:t>
            </a:r>
          </a:p>
        </p:txBody>
      </p:sp>
      <p:sp>
        <p:nvSpPr>
          <p:cNvPr id="8" name="TextBox 7"/>
          <p:cNvSpPr txBox="1"/>
          <p:nvPr/>
        </p:nvSpPr>
        <p:spPr>
          <a:xfrm>
            <a:off x="4343400" y="1828800"/>
            <a:ext cx="3429000" cy="822960"/>
          </a:xfrm>
          <a:prstGeom prst="rect">
            <a:avLst/>
          </a:prstGeom>
          <a:noFill/>
        </p:spPr>
        <p:txBody>
          <a:bodyPr wrap="square" lIns="0" rIns="0" tIns="0" bIns="0" anchor="t">
            <a:spAutoFit/>
          </a:bodyPr>
          <a:lstStyle/>
          <a:p>
            <a:pPr>
              <a:lnSpc>
                <a:spcPct val="112000"/>
              </a:lnSpc>
              <a:spcAft>
                <a:spcPts val="800"/>
              </a:spcAft>
              <a:defRPr sz="4900" b="1">
                <a:solidFill>
                  <a:srgbClr val="0E9384"/>
                </a:solidFill>
                <a:latin typeface="Arial"/>
              </a:defRPr>
            </a:pPr>
            <a:r>
              <a:t>312</a:t>
            </a:r>
          </a:p>
        </p:txBody>
      </p:sp>
      <p:sp>
        <p:nvSpPr>
          <p:cNvPr id="9" name="TextBox 8"/>
          <p:cNvSpPr txBox="1"/>
          <p:nvPr/>
        </p:nvSpPr>
        <p:spPr>
          <a:xfrm>
            <a:off x="4343400" y="2788920"/>
            <a:ext cx="3429000" cy="502920"/>
          </a:xfrm>
          <a:prstGeom prst="rect">
            <a:avLst/>
          </a:prstGeom>
          <a:noFill/>
        </p:spPr>
        <p:txBody>
          <a:bodyPr wrap="square" lIns="0" rIns="0" tIns="0" bIns="0" anchor="t">
            <a:spAutoFit/>
          </a:bodyPr>
          <a:lstStyle/>
          <a:p>
            <a:pPr>
              <a:lnSpc>
                <a:spcPct val="112000"/>
              </a:lnSpc>
              <a:spcAft>
                <a:spcPts val="800"/>
              </a:spcAft>
              <a:defRPr sz="1800" b="0">
                <a:solidFill>
                  <a:srgbClr val="56697A"/>
                </a:solidFill>
                <a:latin typeface="Arial"/>
              </a:defRPr>
            </a:pPr>
            <a:r>
              <a:t>crawler page checks passed</a:t>
            </a:r>
          </a:p>
        </p:txBody>
      </p:sp>
      <p:sp>
        <p:nvSpPr>
          <p:cNvPr id="10" name="TextBox 9"/>
          <p:cNvSpPr txBox="1"/>
          <p:nvPr/>
        </p:nvSpPr>
        <p:spPr>
          <a:xfrm>
            <a:off x="8183879" y="1828800"/>
            <a:ext cx="3429000" cy="822960"/>
          </a:xfrm>
          <a:prstGeom prst="rect">
            <a:avLst/>
          </a:prstGeom>
          <a:noFill/>
        </p:spPr>
        <p:txBody>
          <a:bodyPr wrap="square" lIns="0" rIns="0" tIns="0" bIns="0" anchor="t">
            <a:spAutoFit/>
          </a:bodyPr>
          <a:lstStyle/>
          <a:p>
            <a:pPr>
              <a:lnSpc>
                <a:spcPct val="112000"/>
              </a:lnSpc>
              <a:spcAft>
                <a:spcPts val="800"/>
              </a:spcAft>
              <a:defRPr sz="4900" b="1">
                <a:solidFill>
                  <a:srgbClr val="0E9384"/>
                </a:solidFill>
                <a:latin typeface="Arial"/>
              </a:defRPr>
            </a:pPr>
            <a:r>
              <a:t>11</a:t>
            </a:r>
          </a:p>
        </p:txBody>
      </p:sp>
      <p:sp>
        <p:nvSpPr>
          <p:cNvPr id="11" name="TextBox 10"/>
          <p:cNvSpPr txBox="1"/>
          <p:nvPr/>
        </p:nvSpPr>
        <p:spPr>
          <a:xfrm>
            <a:off x="8183879" y="2788920"/>
            <a:ext cx="3429000" cy="502920"/>
          </a:xfrm>
          <a:prstGeom prst="rect">
            <a:avLst/>
          </a:prstGeom>
          <a:noFill/>
        </p:spPr>
        <p:txBody>
          <a:bodyPr wrap="square" lIns="0" rIns="0" tIns="0" bIns="0" anchor="t">
            <a:spAutoFit/>
          </a:bodyPr>
          <a:lstStyle/>
          <a:p>
            <a:pPr>
              <a:lnSpc>
                <a:spcPct val="112000"/>
              </a:lnSpc>
              <a:spcAft>
                <a:spcPts val="800"/>
              </a:spcAft>
              <a:defRPr sz="1800" b="0">
                <a:solidFill>
                  <a:srgbClr val="56697A"/>
                </a:solidFill>
                <a:latin typeface="Arial"/>
              </a:defRPr>
            </a:pPr>
            <a:r>
              <a:t>real English UI captures</a:t>
            </a:r>
          </a:p>
        </p:txBody>
      </p:sp>
      <p:sp>
        <p:nvSpPr>
          <p:cNvPr id="12" name="TextBox 11"/>
          <p:cNvSpPr txBox="1"/>
          <p:nvPr/>
        </p:nvSpPr>
        <p:spPr>
          <a:xfrm>
            <a:off x="502920" y="3685032"/>
            <a:ext cx="10954512" cy="1143000"/>
          </a:xfrm>
          <a:prstGeom prst="rect">
            <a:avLst/>
          </a:prstGeom>
          <a:noFill/>
        </p:spPr>
        <p:txBody>
          <a:bodyPr wrap="square" lIns="0" rIns="0" tIns="0" bIns="0" anchor="t">
            <a:spAutoFit/>
          </a:bodyPr>
          <a:lstStyle/>
          <a:p>
            <a:pPr>
              <a:lnSpc>
                <a:spcPct val="112000"/>
              </a:lnSpc>
              <a:spcAft>
                <a:spcPts val="800"/>
              </a:spcAft>
              <a:defRPr sz="2300" b="1">
                <a:solidFill>
                  <a:srgbClr val="152A36"/>
                </a:solidFill>
                <a:latin typeface="Arial"/>
              </a:defRPr>
            </a:pPr>
            <a:r>
              <a:t>Both languages. Publication gates. Navigation and admin workflows.</a:t>
            </a:r>
          </a:p>
          <a:p>
            <a:pPr>
              <a:lnSpc>
                <a:spcPct val="112000"/>
              </a:lnSpc>
              <a:spcAft>
                <a:spcPts val="800"/>
              </a:spcAft>
              <a:defRPr sz="2300" b="1">
                <a:solidFill>
                  <a:srgbClr val="152A36"/>
                </a:solidFill>
                <a:latin typeface="Arial"/>
              </a:defRPr>
            </a:pPr>
            <a:r>
              <a:t>Legacy redirects. Payment responses. Traffic attribution.</a:t>
            </a:r>
          </a:p>
        </p:txBody>
      </p:sp>
      <p:sp>
        <p:nvSpPr>
          <p:cNvPr id="13" name="TextBox 12"/>
          <p:cNvSpPr txBox="1"/>
          <p:nvPr/>
        </p:nvSpPr>
        <p:spPr>
          <a:xfrm>
            <a:off x="502920" y="5175504"/>
            <a:ext cx="10945368" cy="978408"/>
          </a:xfrm>
          <a:prstGeom prst="rect">
            <a:avLst/>
          </a:prstGeom>
          <a:noFill/>
        </p:spPr>
        <p:txBody>
          <a:bodyPr wrap="square" lIns="0" rIns="0" tIns="0" bIns="0" anchor="t">
            <a:spAutoFit/>
          </a:bodyPr>
          <a:lstStyle/>
          <a:p>
            <a:pPr>
              <a:lnSpc>
                <a:spcPct val="112000"/>
              </a:lnSpc>
              <a:spcAft>
                <a:spcPts val="800"/>
              </a:spcAft>
              <a:defRPr sz="1900" b="0">
                <a:solidFill>
                  <a:srgbClr val="56697A"/>
                </a:solidFill>
                <a:latin typeface="Arial"/>
              </a:defRPr>
            </a:pPr>
            <a:r>
              <a:t>Explore the site     aperture.zhangwangshu.com</a:t>
            </a:r>
          </a:p>
          <a:p>
            <a:pPr>
              <a:lnSpc>
                <a:spcPct val="112000"/>
              </a:lnSpc>
              <a:spcAft>
                <a:spcPts val="800"/>
              </a:spcAft>
              <a:defRPr sz="1900" b="0">
                <a:solidFill>
                  <a:srgbClr val="56697A"/>
                </a:solidFill>
                <a:latin typeface="Arial"/>
              </a:defRPr>
            </a:pPr>
            <a:r>
              <a:t>Read the code        github.com/milan9527/geo</a:t>
            </a:r>
          </a:p>
          <a:p>
            <a:pPr>
              <a:lnSpc>
                <a:spcPct val="112000"/>
              </a:lnSpc>
              <a:spcAft>
                <a:spcPts val="800"/>
              </a:spcAft>
              <a:defRPr sz="1900" b="0">
                <a:solidFill>
                  <a:srgbClr val="56697A"/>
                </a:solidFill>
                <a:latin typeface="Arial"/>
              </a:defRPr>
            </a:pPr>
            <a:r>
              <a:t>Reproduce checks     docs/functional-verification.md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Aperture Intelligence — English Technical Overview</dc:title>
  <dc:subject>Evidence-based research, bilingual publication and agent access on AWS</dc:subject>
  <dc:creator>Aperture Intelligence</dc:creator>
  <cp:keywords>AWS, AgentCore, bilingual publishing, editorial review, x402</cp:keywords>
  <dc:description>Real English production screenshots. Dated verification; testnet payments.</dc:description>
  <cp:lastModifiedBy>Steve Canny</cp:lastModifiedBy>
  <cp:revision>1</cp:revision>
  <dcterms:created xsi:type="dcterms:W3CDTF">2013-01-27T09:14:16Z</dcterms:created>
  <dcterms:modified xsi:type="dcterms:W3CDTF">2013-01-27T09:15:58Z</dcterms:modified>
  <cp:category/>
</cp:coreProperties>
</file>